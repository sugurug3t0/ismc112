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tags/tag19.xml" ContentType="application/vnd.openxmlformats-officedocument.presentationml.tags+xml"/>
  <Override PartName="/ppt/notesSlides/notesSlide19.xml" ContentType="application/vnd.openxmlformats-officedocument.presentationml.notesSlide+xml"/>
  <Override PartName="/ppt/tags/tag20.xml" ContentType="application/vnd.openxmlformats-officedocument.presentationml.tags+xml"/>
  <Override PartName="/ppt/notesSlides/notesSlide20.xml" ContentType="application/vnd.openxmlformats-officedocument.presentationml.notesSlide+xml"/>
  <Override PartName="/ppt/tags/tag21.xml" ContentType="application/vnd.openxmlformats-officedocument.presentationml.tags+xml"/>
  <Override PartName="/ppt/notesSlides/notesSlide21.xml" ContentType="application/vnd.openxmlformats-officedocument.presentationml.notesSlide+xml"/>
  <Override PartName="/ppt/tags/tag22.xml" ContentType="application/vnd.openxmlformats-officedocument.presentationml.tags+xml"/>
  <Override PartName="/ppt/notesSlides/notesSlide22.xml" ContentType="application/vnd.openxmlformats-officedocument.presentationml.notesSlide+xml"/>
  <Override PartName="/ppt/tags/tag23.xml" ContentType="application/vnd.openxmlformats-officedocument.presentationml.tags+xml"/>
  <Override PartName="/ppt/notesSlides/notesSlide23.xml" ContentType="application/vnd.openxmlformats-officedocument.presentationml.notesSlide+xml"/>
  <Override PartName="/ppt/tags/tag24.xml" ContentType="application/vnd.openxmlformats-officedocument.presentationml.tags+xml"/>
  <Override PartName="/ppt/notesSlides/notesSlide24.xml" ContentType="application/vnd.openxmlformats-officedocument.presentationml.notesSlide+xml"/>
  <Override PartName="/ppt/tags/tag25.xml" ContentType="application/vnd.openxmlformats-officedocument.presentationml.tags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2" r:id="rId25"/>
    <p:sldId id="283" r:id="rId26"/>
    <p:sldId id="284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2" d="100"/>
          <a:sy n="52" d="100"/>
        </p:scale>
        <p:origin x="60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3B62E4-3B7A-49EC-9BB1-B2540C11A01D}" type="datetimeFigureOut">
              <a:rPr lang="en-US" smtClean="0"/>
              <a:t>7/10/2019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6095A-9A00-48A5-8764-258CC53A0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58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50D756D-0449-40F0-8F3F-624D63F95A3C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118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EDFF6E8-F017-462A-B5A0-88B895D157FB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814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10CBC2-EF0E-434C-B745-6A5DE4CDEF1A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125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FEA2ABE-98A9-4AA4-AE76-C6DD9A1C9B10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658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6F874D8-971D-4C1B-AB00-8F3ECC9576BB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526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55FDC08-EABF-4686-BA47-9D27A8A0737F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316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B355177-8F92-4AB8-B3A9-4AD7E0F2EEB5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057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7BDCB4E-2093-4A4B-94FA-4D6704237872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45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488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2E7CBE-306A-4BDF-A036-EB846FE575D3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86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999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10EB42E-FDD9-482F-91C4-7CD63FFA1AFA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307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9208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FBAE2AF-C629-4850-917D-29A7679CA481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327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353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B8D494D-D8BC-4073-B857-19728477A1E3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348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8981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0E857C-60F0-498B-B1E0-609D5AE9739A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368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4177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A0B42AC-4A9C-41C0-B925-15475CFF0DB3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389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239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9009B9-8D2E-44B7-8549-695A752F2A45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409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314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1F82C98-51DD-48B8-80F8-A1ACE350A2A0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430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1565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5116209-0D80-4480-91C3-BFAF751A3D56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450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5931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1D9963-5BE9-41F3-82DE-7AFE73A67029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471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3844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C9AC59B-4757-4E60-8423-19AE9356FB7C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491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9173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3368C1-5CE7-4DC2-AD7A-2EA10B647A0A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512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5056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F5038D-1FE3-4558-897A-D7AFFE01E306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532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4015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A1029D6-E220-48AA-85F3-5EFBDD7AA837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552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5689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7B08C8E-2B72-4C36-AF9D-90E999B5B47B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593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3200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71F5CD0-5080-4736-AC88-72D24E90C572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614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6056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6465F8D-055C-44EB-9454-632C51803838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634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681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E5ADD-D509-49B6-B038-28913F5CE686}" type="datetimeFigureOut">
              <a:rPr lang="en-US" smtClean="0"/>
              <a:t>7/10/2019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2AD2C-07B7-4202-91C0-DE40A5B30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2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E5ADD-D509-49B6-B038-28913F5CE686}" type="datetimeFigureOut">
              <a:rPr lang="en-US" smtClean="0"/>
              <a:t>7/10/2019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2AD2C-07B7-4202-91C0-DE40A5B30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360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E5ADD-D509-49B6-B038-28913F5CE686}" type="datetimeFigureOut">
              <a:rPr lang="en-US" smtClean="0"/>
              <a:t>7/10/2019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2AD2C-07B7-4202-91C0-DE40A5B30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78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E5ADD-D509-49B6-B038-28913F5CE686}" type="datetimeFigureOut">
              <a:rPr lang="en-US" smtClean="0"/>
              <a:t>7/10/2019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2AD2C-07B7-4202-91C0-DE40A5B30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97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E5ADD-D509-49B6-B038-28913F5CE686}" type="datetimeFigureOut">
              <a:rPr lang="en-US" smtClean="0"/>
              <a:t>7/10/2019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2AD2C-07B7-4202-91C0-DE40A5B30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08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E5ADD-D509-49B6-B038-28913F5CE686}" type="datetimeFigureOut">
              <a:rPr lang="en-US" smtClean="0"/>
              <a:t>7/10/2019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2AD2C-07B7-4202-91C0-DE40A5B30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29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E5ADD-D509-49B6-B038-28913F5CE686}" type="datetimeFigureOut">
              <a:rPr lang="en-US" smtClean="0"/>
              <a:t>7/10/2019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2AD2C-07B7-4202-91C0-DE40A5B30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77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E5ADD-D509-49B6-B038-28913F5CE686}" type="datetimeFigureOut">
              <a:rPr lang="en-US" smtClean="0"/>
              <a:t>7/10/2019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2AD2C-07B7-4202-91C0-DE40A5B30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0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E5ADD-D509-49B6-B038-28913F5CE686}" type="datetimeFigureOut">
              <a:rPr lang="en-US" smtClean="0"/>
              <a:t>7/10/2019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2AD2C-07B7-4202-91C0-DE40A5B30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507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E5ADD-D509-49B6-B038-28913F5CE686}" type="datetimeFigureOut">
              <a:rPr lang="en-US" smtClean="0"/>
              <a:t>7/10/2019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2AD2C-07B7-4202-91C0-DE40A5B30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284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E5ADD-D509-49B6-B038-28913F5CE686}" type="datetimeFigureOut">
              <a:rPr lang="en-US" smtClean="0"/>
              <a:t>7/10/2019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2AD2C-07B7-4202-91C0-DE40A5B30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990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E5ADD-D509-49B6-B038-28913F5CE686}" type="datetimeFigureOut">
              <a:rPr lang="en-US" smtClean="0"/>
              <a:t>7/10/2019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02AD2C-07B7-4202-91C0-DE40A5B30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53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.xml"/><Relationship Id="rId4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497" y="3646284"/>
            <a:ext cx="6858000" cy="1655762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Forms of Business Organization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6026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968375" y="1610391"/>
            <a:ext cx="18261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 smtClean="0"/>
              <a:t>Objectives </a:t>
            </a:r>
            <a:endParaRPr lang="en-US" altLang="en-US" sz="2400" b="1" dirty="0"/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968375" y="2579688"/>
            <a:ext cx="714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61963" indent="-461963"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SzPct val="145000"/>
              <a:buFontTx/>
              <a:buBlip>
                <a:blip r:embed="rId5"/>
              </a:buBlip>
            </a:pPr>
            <a:endParaRPr lang="en-US" altLang="en-US" sz="1800"/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1093788" y="2565400"/>
            <a:ext cx="7112000" cy="202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4488" indent="-344488"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80000"/>
              </a:spcBef>
              <a:spcAft>
                <a:spcPct val="10000"/>
              </a:spcAft>
              <a:buFontTx/>
              <a:buBlip>
                <a:blip r:embed="rId5"/>
              </a:buBlip>
            </a:pPr>
            <a:r>
              <a:rPr lang="en-US" altLang="en-US" sz="2400" dirty="0"/>
              <a:t>Describe the advantages and disadvantages of the three major forms of business organizations.</a:t>
            </a:r>
          </a:p>
          <a:p>
            <a:pPr eaLnBrk="1" hangingPunct="1">
              <a:lnSpc>
                <a:spcPct val="110000"/>
              </a:lnSpc>
              <a:spcBef>
                <a:spcPct val="80000"/>
              </a:spcBef>
              <a:spcAft>
                <a:spcPct val="10000"/>
              </a:spcAft>
              <a:buFontTx/>
              <a:buBlip>
                <a:blip r:embed="rId5"/>
              </a:buBlip>
            </a:pPr>
            <a:r>
              <a:rPr lang="en-US" altLang="en-US" sz="2400" dirty="0"/>
              <a:t>Describe how cooperatives and nonprofits are like and unlike corporations and franchises.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6488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093788" y="2097088"/>
            <a:ext cx="2197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B40000"/>
                </a:solidFill>
              </a:rPr>
              <a:t>The Main Idea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968375" y="2579688"/>
            <a:ext cx="714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61963" indent="-461963"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SzPct val="145000"/>
              <a:buFontTx/>
              <a:buBlip>
                <a:blip r:embed="rId5"/>
              </a:buBlip>
            </a:pPr>
            <a:endParaRPr lang="en-US" altLang="en-US" sz="1800"/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1093788" y="2565400"/>
            <a:ext cx="7078662" cy="255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25000"/>
              </a:spcBef>
              <a:buFontTx/>
              <a:buNone/>
            </a:pPr>
            <a:r>
              <a:rPr lang="en-US" altLang="en-US" sz="2400" dirty="0"/>
              <a:t>Sole proprietorships, partnerships, and corporations are the most common forms of business organization</a:t>
            </a:r>
            <a:r>
              <a:rPr lang="en-US" altLang="en-US" sz="2400" dirty="0" smtClean="0"/>
              <a:t>.</a:t>
            </a:r>
          </a:p>
          <a:p>
            <a:pPr eaLnBrk="1" hangingPunct="1">
              <a:lnSpc>
                <a:spcPct val="110000"/>
              </a:lnSpc>
              <a:spcBef>
                <a:spcPct val="125000"/>
              </a:spcBef>
              <a:buFontTx/>
              <a:buNone/>
            </a:pPr>
            <a:r>
              <a:rPr lang="en-US" altLang="en-US" sz="2400" dirty="0" smtClean="0"/>
              <a:t>Cooperatives</a:t>
            </a:r>
            <a:r>
              <a:rPr lang="en-US" altLang="en-US" sz="2400" dirty="0"/>
              <a:t>, nonprofits, and franchises are other forms.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6344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093788" y="2097088"/>
            <a:ext cx="157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B40000"/>
                </a:solidFill>
              </a:rPr>
              <a:t>Key Term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968375" y="2579688"/>
            <a:ext cx="714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61963" indent="-461963"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SzPct val="145000"/>
              <a:buFontTx/>
              <a:buBlip>
                <a:blip r:embed="rId5"/>
              </a:buBlip>
            </a:pPr>
            <a:endParaRPr lang="en-US" altLang="en-US" sz="1800"/>
          </a:p>
        </p:txBody>
      </p:sp>
      <p:sp>
        <p:nvSpPr>
          <p:cNvPr id="13317" name="Text Box 10"/>
          <p:cNvSpPr txBox="1">
            <a:spLocks noChangeArrowheads="1"/>
          </p:cNvSpPr>
          <p:nvPr/>
        </p:nvSpPr>
        <p:spPr bwMode="auto">
          <a:xfrm>
            <a:off x="1093788" y="2776538"/>
            <a:ext cx="258603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80000"/>
              </a:spcBef>
              <a:spcAft>
                <a:spcPct val="10000"/>
              </a:spcAft>
              <a:buFontTx/>
              <a:buNone/>
            </a:pPr>
            <a:r>
              <a:rPr lang="en-US" altLang="en-US" sz="2400" b="1">
                <a:solidFill>
                  <a:srgbClr val="23408F"/>
                </a:solidFill>
              </a:rPr>
              <a:t>sole</a:t>
            </a:r>
            <a:br>
              <a:rPr lang="en-US" altLang="en-US" sz="2400" b="1">
                <a:solidFill>
                  <a:srgbClr val="23408F"/>
                </a:solidFill>
              </a:rPr>
            </a:br>
            <a:r>
              <a:rPr lang="en-US" altLang="en-US" sz="2400" b="1">
                <a:solidFill>
                  <a:srgbClr val="23408F"/>
                </a:solidFill>
              </a:rPr>
              <a:t>proprietorship</a:t>
            </a:r>
          </a:p>
        </p:txBody>
      </p:sp>
      <p:sp>
        <p:nvSpPr>
          <p:cNvPr id="13318" name="Text Box 11"/>
          <p:cNvSpPr txBox="1">
            <a:spLocks noChangeArrowheads="1"/>
          </p:cNvSpPr>
          <p:nvPr/>
        </p:nvSpPr>
        <p:spPr bwMode="auto">
          <a:xfrm>
            <a:off x="1093788" y="4291013"/>
            <a:ext cx="20955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80000"/>
              </a:spcBef>
              <a:spcAft>
                <a:spcPct val="10000"/>
              </a:spcAft>
              <a:buFontTx/>
              <a:buNone/>
            </a:pPr>
            <a:r>
              <a:rPr lang="en-US" altLang="en-US" sz="2400" b="1">
                <a:solidFill>
                  <a:srgbClr val="23408F"/>
                </a:solidFill>
              </a:rPr>
              <a:t>unlimited</a:t>
            </a:r>
            <a:br>
              <a:rPr lang="en-US" altLang="en-US" sz="2400" b="1">
                <a:solidFill>
                  <a:srgbClr val="23408F"/>
                </a:solidFill>
              </a:rPr>
            </a:br>
            <a:r>
              <a:rPr lang="en-US" altLang="en-US" sz="2400" b="1">
                <a:solidFill>
                  <a:srgbClr val="23408F"/>
                </a:solidFill>
              </a:rPr>
              <a:t>liability</a:t>
            </a:r>
          </a:p>
        </p:txBody>
      </p:sp>
      <p:sp>
        <p:nvSpPr>
          <p:cNvPr id="13319" name="Line 12"/>
          <p:cNvSpPr>
            <a:spLocks noChangeShapeType="1"/>
          </p:cNvSpPr>
          <p:nvPr/>
        </p:nvSpPr>
        <p:spPr bwMode="auto">
          <a:xfrm>
            <a:off x="1239838" y="3938588"/>
            <a:ext cx="6754812" cy="0"/>
          </a:xfrm>
          <a:prstGeom prst="line">
            <a:avLst/>
          </a:prstGeom>
          <a:noFill/>
          <a:ln w="25400">
            <a:solidFill>
              <a:srgbClr val="23408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61" name="Text Box 13"/>
          <p:cNvSpPr txBox="1">
            <a:spLocks noChangeArrowheads="1"/>
          </p:cNvSpPr>
          <p:nvPr/>
        </p:nvSpPr>
        <p:spPr bwMode="auto">
          <a:xfrm>
            <a:off x="3678238" y="2776538"/>
            <a:ext cx="46005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80000"/>
              </a:spcBef>
              <a:spcAft>
                <a:spcPct val="10000"/>
              </a:spcAft>
              <a:buFontTx/>
              <a:buNone/>
            </a:pPr>
            <a:r>
              <a:rPr lang="en-US" altLang="en-US" sz="2400"/>
              <a:t>a business owned by one person</a:t>
            </a:r>
          </a:p>
        </p:txBody>
      </p:sp>
      <p:sp>
        <p:nvSpPr>
          <p:cNvPr id="104462" name="Text Box 14"/>
          <p:cNvSpPr txBox="1">
            <a:spLocks noChangeArrowheads="1"/>
          </p:cNvSpPr>
          <p:nvPr/>
        </p:nvSpPr>
        <p:spPr bwMode="auto">
          <a:xfrm>
            <a:off x="3678238" y="4264025"/>
            <a:ext cx="46005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80000"/>
              </a:spcBef>
              <a:spcAft>
                <a:spcPct val="10000"/>
              </a:spcAft>
              <a:buFontTx/>
              <a:buNone/>
            </a:pPr>
            <a:r>
              <a:rPr lang="en-US" altLang="en-US" sz="2400"/>
              <a:t>when the owner is responsible for the company’s debts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9858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093788" y="2097088"/>
            <a:ext cx="157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B40000"/>
                </a:solidFill>
              </a:rPr>
              <a:t>Key Term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968375" y="2579688"/>
            <a:ext cx="714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61963" indent="-461963"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SzPct val="145000"/>
              <a:buFontTx/>
              <a:buBlip>
                <a:blip r:embed="rId5"/>
              </a:buBlip>
            </a:pPr>
            <a:endParaRPr lang="en-US" altLang="en-US" sz="1800"/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1093788" y="2976563"/>
            <a:ext cx="2586037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80000"/>
              </a:spcBef>
              <a:spcAft>
                <a:spcPct val="10000"/>
              </a:spcAft>
              <a:buFontTx/>
              <a:buNone/>
            </a:pPr>
            <a:r>
              <a:rPr lang="en-US" altLang="en-US" sz="2400" b="1">
                <a:solidFill>
                  <a:srgbClr val="23408F"/>
                </a:solidFill>
              </a:rPr>
              <a:t>partnership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1093788" y="4491038"/>
            <a:ext cx="20955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80000"/>
              </a:spcBef>
              <a:spcAft>
                <a:spcPct val="10000"/>
              </a:spcAft>
              <a:buFontTx/>
              <a:buNone/>
            </a:pPr>
            <a:r>
              <a:rPr lang="en-US" altLang="en-US" sz="2400" b="1">
                <a:solidFill>
                  <a:srgbClr val="23408F"/>
                </a:solidFill>
              </a:rPr>
              <a:t>corporation</a:t>
            </a:r>
          </a:p>
        </p:txBody>
      </p:sp>
      <p:sp>
        <p:nvSpPr>
          <p:cNvPr id="15367" name="Line 7"/>
          <p:cNvSpPr>
            <a:spLocks noChangeShapeType="1"/>
          </p:cNvSpPr>
          <p:nvPr/>
        </p:nvSpPr>
        <p:spPr bwMode="auto">
          <a:xfrm>
            <a:off x="1239838" y="3938588"/>
            <a:ext cx="6754812" cy="0"/>
          </a:xfrm>
          <a:prstGeom prst="line">
            <a:avLst/>
          </a:prstGeom>
          <a:noFill/>
          <a:ln w="25400">
            <a:solidFill>
              <a:srgbClr val="23408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272" name="Text Box 8"/>
          <p:cNvSpPr txBox="1">
            <a:spLocks noChangeArrowheads="1"/>
          </p:cNvSpPr>
          <p:nvPr/>
        </p:nvSpPr>
        <p:spPr bwMode="auto">
          <a:xfrm>
            <a:off x="3225800" y="2576513"/>
            <a:ext cx="5053013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80000"/>
              </a:spcBef>
              <a:spcAft>
                <a:spcPct val="10000"/>
              </a:spcAft>
              <a:buFontTx/>
              <a:buNone/>
            </a:pPr>
            <a:r>
              <a:rPr lang="en-US" altLang="en-US" sz="2400"/>
              <a:t>a business owned by two or more people who share its risks and rewards</a:t>
            </a:r>
          </a:p>
        </p:txBody>
      </p:sp>
      <p:sp>
        <p:nvSpPr>
          <p:cNvPr id="139273" name="Text Box 9"/>
          <p:cNvSpPr txBox="1">
            <a:spLocks noChangeArrowheads="1"/>
          </p:cNvSpPr>
          <p:nvPr/>
        </p:nvSpPr>
        <p:spPr bwMode="auto">
          <a:xfrm>
            <a:off x="3225800" y="4064000"/>
            <a:ext cx="5053013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80000"/>
              </a:spcBef>
              <a:spcAft>
                <a:spcPct val="10000"/>
              </a:spcAft>
              <a:buFontTx/>
              <a:buNone/>
            </a:pPr>
            <a:r>
              <a:rPr lang="en-US" altLang="en-US" sz="2400"/>
              <a:t>a company that is registered by a state and operates apart from its owners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8721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1093788" y="2097088"/>
            <a:ext cx="157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B40000"/>
                </a:solidFill>
              </a:rPr>
              <a:t>Key Term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968375" y="2579688"/>
            <a:ext cx="714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61963" indent="-461963"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SzPct val="145000"/>
              <a:buFontTx/>
              <a:buBlip>
                <a:blip r:embed="rId5"/>
              </a:buBlip>
            </a:pPr>
            <a:endParaRPr lang="en-US" altLang="en-US" sz="1800"/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1093788" y="2776538"/>
            <a:ext cx="258603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80000"/>
              </a:spcBef>
              <a:spcAft>
                <a:spcPct val="10000"/>
              </a:spcAft>
              <a:buFontTx/>
              <a:buNone/>
            </a:pPr>
            <a:r>
              <a:rPr lang="en-US" altLang="en-US" sz="2400" b="1">
                <a:solidFill>
                  <a:srgbClr val="23408F"/>
                </a:solidFill>
              </a:rPr>
              <a:t>limited</a:t>
            </a:r>
            <a:br>
              <a:rPr lang="en-US" altLang="en-US" sz="2400" b="1">
                <a:solidFill>
                  <a:srgbClr val="23408F"/>
                </a:solidFill>
              </a:rPr>
            </a:br>
            <a:r>
              <a:rPr lang="en-US" altLang="en-US" sz="2400" b="1">
                <a:solidFill>
                  <a:srgbClr val="23408F"/>
                </a:solidFill>
              </a:rPr>
              <a:t>liability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1093788" y="4491038"/>
            <a:ext cx="20955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80000"/>
              </a:spcBef>
              <a:spcAft>
                <a:spcPct val="10000"/>
              </a:spcAft>
              <a:buFontTx/>
              <a:buNone/>
            </a:pPr>
            <a:r>
              <a:rPr lang="en-US" altLang="en-US" sz="2400" b="1">
                <a:solidFill>
                  <a:srgbClr val="23408F"/>
                </a:solidFill>
              </a:rPr>
              <a:t>cooperative</a:t>
            </a:r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>
            <a:off x="1239838" y="3938588"/>
            <a:ext cx="6754812" cy="0"/>
          </a:xfrm>
          <a:prstGeom prst="line">
            <a:avLst/>
          </a:prstGeom>
          <a:noFill/>
          <a:ln w="25400">
            <a:solidFill>
              <a:srgbClr val="23408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296" name="Text Box 8"/>
          <p:cNvSpPr txBox="1">
            <a:spLocks noChangeArrowheads="1"/>
          </p:cNvSpPr>
          <p:nvPr/>
        </p:nvSpPr>
        <p:spPr bwMode="auto">
          <a:xfrm>
            <a:off x="3225800" y="2578100"/>
            <a:ext cx="5053013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80000"/>
              </a:spcBef>
              <a:spcAft>
                <a:spcPct val="10000"/>
              </a:spcAft>
              <a:buFontTx/>
              <a:buNone/>
            </a:pPr>
            <a:r>
              <a:rPr lang="en-US" altLang="en-US" sz="2400"/>
              <a:t>holding a firm’s owners responsible for no more than the capital that they have invested in it</a:t>
            </a:r>
          </a:p>
        </p:txBody>
      </p:sp>
      <p:sp>
        <p:nvSpPr>
          <p:cNvPr id="140297" name="Text Box 9"/>
          <p:cNvSpPr txBox="1">
            <a:spLocks noChangeArrowheads="1"/>
          </p:cNvSpPr>
          <p:nvPr/>
        </p:nvSpPr>
        <p:spPr bwMode="auto">
          <a:xfrm>
            <a:off x="3225800" y="4265613"/>
            <a:ext cx="5053013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80000"/>
              </a:spcBef>
              <a:spcAft>
                <a:spcPct val="10000"/>
              </a:spcAft>
              <a:buFontTx/>
              <a:buNone/>
            </a:pPr>
            <a:r>
              <a:rPr lang="en-US" altLang="en-US" sz="2400"/>
              <a:t>an organization that is owned and operated by its members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9365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093788" y="2097088"/>
            <a:ext cx="157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B40000"/>
                </a:solidFill>
              </a:rPr>
              <a:t>Key Term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968375" y="2579688"/>
            <a:ext cx="714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61963" indent="-461963"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SzPct val="145000"/>
              <a:buFontTx/>
              <a:buBlip>
                <a:blip r:embed="rId5"/>
              </a:buBlip>
            </a:pPr>
            <a:endParaRPr lang="en-US" altLang="en-US" sz="1800"/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1093788" y="2776538"/>
            <a:ext cx="258603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80000"/>
              </a:spcBef>
              <a:spcAft>
                <a:spcPct val="10000"/>
              </a:spcAft>
              <a:buFontTx/>
              <a:buNone/>
            </a:pPr>
            <a:r>
              <a:rPr lang="en-US" altLang="en-US" sz="2400" b="1">
                <a:solidFill>
                  <a:srgbClr val="23408F"/>
                </a:solidFill>
              </a:rPr>
              <a:t>nonprofit</a:t>
            </a:r>
            <a:br>
              <a:rPr lang="en-US" altLang="en-US" sz="2400" b="1">
                <a:solidFill>
                  <a:srgbClr val="23408F"/>
                </a:solidFill>
              </a:rPr>
            </a:br>
            <a:r>
              <a:rPr lang="en-US" altLang="en-US" sz="2400" b="1">
                <a:solidFill>
                  <a:srgbClr val="23408F"/>
                </a:solidFill>
              </a:rPr>
              <a:t>organization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1093788" y="4687888"/>
            <a:ext cx="20955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80000"/>
              </a:spcBef>
              <a:spcAft>
                <a:spcPct val="10000"/>
              </a:spcAft>
              <a:buFontTx/>
              <a:buNone/>
            </a:pPr>
            <a:r>
              <a:rPr lang="en-US" altLang="en-US" sz="2400" b="1">
                <a:solidFill>
                  <a:srgbClr val="23408F"/>
                </a:solidFill>
              </a:rPr>
              <a:t>franchise</a:t>
            </a:r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>
            <a:off x="1239838" y="3938588"/>
            <a:ext cx="6754812" cy="0"/>
          </a:xfrm>
          <a:prstGeom prst="line">
            <a:avLst/>
          </a:prstGeom>
          <a:noFill/>
          <a:ln w="25400">
            <a:solidFill>
              <a:srgbClr val="23408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344" name="Text Box 8"/>
          <p:cNvSpPr txBox="1">
            <a:spLocks noChangeArrowheads="1"/>
          </p:cNvSpPr>
          <p:nvPr/>
        </p:nvSpPr>
        <p:spPr bwMode="auto">
          <a:xfrm>
            <a:off x="3225800" y="2578100"/>
            <a:ext cx="5053013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80000"/>
              </a:spcBef>
              <a:spcAft>
                <a:spcPct val="10000"/>
              </a:spcAft>
              <a:buFontTx/>
              <a:buNone/>
            </a:pPr>
            <a:r>
              <a:rPr lang="en-US" altLang="en-US" sz="2400"/>
              <a:t>a type of business that focuses on providing service, not on making a profit</a:t>
            </a:r>
          </a:p>
        </p:txBody>
      </p:sp>
      <p:sp>
        <p:nvSpPr>
          <p:cNvPr id="142345" name="Text Box 9"/>
          <p:cNvSpPr txBox="1">
            <a:spLocks noChangeArrowheads="1"/>
          </p:cNvSpPr>
          <p:nvPr/>
        </p:nvSpPr>
        <p:spPr bwMode="auto">
          <a:xfrm>
            <a:off x="3225800" y="4062413"/>
            <a:ext cx="5053013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80000"/>
              </a:spcBef>
              <a:spcAft>
                <a:spcPct val="10000"/>
              </a:spcAft>
              <a:buFontTx/>
              <a:buNone/>
            </a:pPr>
            <a:r>
              <a:rPr lang="en-US" altLang="en-US" sz="2400"/>
              <a:t>a contractual agreement to use the name and sell the products or services of a company in a designated geographic area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7349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Organizing a Business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320675" y="2159000"/>
            <a:ext cx="8669338" cy="1279525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mtClean="0"/>
              <a:t>The three main types of business organizations are:</a:t>
            </a:r>
          </a:p>
        </p:txBody>
      </p:sp>
      <p:sp>
        <p:nvSpPr>
          <p:cNvPr id="21508" name="Oval 4"/>
          <p:cNvSpPr>
            <a:spLocks noChangeArrowheads="1"/>
          </p:cNvSpPr>
          <p:nvPr/>
        </p:nvSpPr>
        <p:spPr bwMode="auto">
          <a:xfrm>
            <a:off x="528638" y="3563938"/>
            <a:ext cx="2327275" cy="2327275"/>
          </a:xfrm>
          <a:prstGeom prst="ellipse">
            <a:avLst/>
          </a:prstGeom>
          <a:solidFill>
            <a:srgbClr val="2340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DC5B"/>
                </a:solidFill>
              </a:rPr>
              <a:t>Sole</a:t>
            </a:r>
            <a:br>
              <a:rPr lang="en-US" altLang="en-US" sz="2000" b="1">
                <a:solidFill>
                  <a:srgbClr val="FFDC5B"/>
                </a:solidFill>
              </a:rPr>
            </a:br>
            <a:r>
              <a:rPr lang="en-US" altLang="en-US" sz="2000" b="1">
                <a:solidFill>
                  <a:srgbClr val="FFDC5B"/>
                </a:solidFill>
              </a:rPr>
              <a:t>Proprietorships</a:t>
            </a:r>
          </a:p>
        </p:txBody>
      </p:sp>
      <p:sp>
        <p:nvSpPr>
          <p:cNvPr id="21509" name="Oval 5"/>
          <p:cNvSpPr>
            <a:spLocks noChangeArrowheads="1"/>
          </p:cNvSpPr>
          <p:nvPr/>
        </p:nvSpPr>
        <p:spPr bwMode="auto">
          <a:xfrm>
            <a:off x="3408363" y="3563938"/>
            <a:ext cx="2327275" cy="2327275"/>
          </a:xfrm>
          <a:prstGeom prst="ellipse">
            <a:avLst/>
          </a:prstGeom>
          <a:solidFill>
            <a:srgbClr val="2340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DC5B"/>
                </a:solidFill>
              </a:rPr>
              <a:t>Partnerships</a:t>
            </a:r>
          </a:p>
        </p:txBody>
      </p:sp>
      <p:sp>
        <p:nvSpPr>
          <p:cNvPr id="21510" name="Oval 6"/>
          <p:cNvSpPr>
            <a:spLocks noChangeArrowheads="1"/>
          </p:cNvSpPr>
          <p:nvPr/>
        </p:nvSpPr>
        <p:spPr bwMode="auto">
          <a:xfrm>
            <a:off x="6288088" y="3563938"/>
            <a:ext cx="2327275" cy="2327275"/>
          </a:xfrm>
          <a:prstGeom prst="ellipse">
            <a:avLst/>
          </a:prstGeom>
          <a:solidFill>
            <a:srgbClr val="2340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DC5B"/>
                </a:solidFill>
              </a:rPr>
              <a:t>Corporations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1063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4" descr="fi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475" y="982663"/>
            <a:ext cx="6053138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74663" y="2024063"/>
            <a:ext cx="2447925" cy="1685925"/>
          </a:xfrm>
        </p:spPr>
        <p:txBody>
          <a:bodyPr/>
          <a:lstStyle/>
          <a:p>
            <a:pPr eaLnBrk="1" hangingPunct="1"/>
            <a:r>
              <a:rPr lang="en-US" altLang="en-US" sz="2000" smtClean="0"/>
              <a:t>U.S. Sole Proprietorships, Partnerships, and Corporations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7230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AutoShape 3"/>
          <p:cNvSpPr>
            <a:spLocks noChangeArrowheads="1"/>
          </p:cNvSpPr>
          <p:nvPr/>
        </p:nvSpPr>
        <p:spPr bwMode="auto">
          <a:xfrm>
            <a:off x="519113" y="2082800"/>
            <a:ext cx="8191500" cy="3959225"/>
          </a:xfrm>
          <a:prstGeom prst="roundRect">
            <a:avLst>
              <a:gd name="adj" fmla="val 3606"/>
            </a:avLst>
          </a:prstGeom>
          <a:solidFill>
            <a:srgbClr val="2340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bg1"/>
                </a:solidFill>
              </a:rPr>
              <a:t>Advantages of Sole Proprietorships</a:t>
            </a:r>
          </a:p>
        </p:txBody>
      </p:sp>
      <p:sp>
        <p:nvSpPr>
          <p:cNvPr id="27652" name="AutoShape 4"/>
          <p:cNvSpPr>
            <a:spLocks noChangeArrowheads="1"/>
          </p:cNvSpPr>
          <p:nvPr/>
        </p:nvSpPr>
        <p:spPr bwMode="auto">
          <a:xfrm>
            <a:off x="1082675" y="2987675"/>
            <a:ext cx="3224213" cy="1177925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Easy to start</a:t>
            </a:r>
          </a:p>
        </p:txBody>
      </p:sp>
      <p:sp>
        <p:nvSpPr>
          <p:cNvPr id="27653" name="AutoShape 5"/>
          <p:cNvSpPr>
            <a:spLocks noChangeArrowheads="1"/>
          </p:cNvSpPr>
          <p:nvPr/>
        </p:nvSpPr>
        <p:spPr bwMode="auto">
          <a:xfrm>
            <a:off x="4910138" y="2987675"/>
            <a:ext cx="3224212" cy="1177925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Proprietors are </a:t>
            </a:r>
            <a:br>
              <a:rPr lang="en-US" altLang="en-US" sz="2000" b="1">
                <a:solidFill>
                  <a:srgbClr val="23408F"/>
                </a:solidFill>
              </a:rPr>
            </a:br>
            <a:r>
              <a:rPr lang="en-US" altLang="en-US" sz="2000" b="1">
                <a:solidFill>
                  <a:srgbClr val="23408F"/>
                </a:solidFill>
              </a:rPr>
              <a:t>in charge</a:t>
            </a:r>
          </a:p>
        </p:txBody>
      </p:sp>
      <p:sp>
        <p:nvSpPr>
          <p:cNvPr id="27654" name="AutoShape 6"/>
          <p:cNvSpPr>
            <a:spLocks noChangeArrowheads="1"/>
          </p:cNvSpPr>
          <p:nvPr/>
        </p:nvSpPr>
        <p:spPr bwMode="auto">
          <a:xfrm>
            <a:off x="1082675" y="4476750"/>
            <a:ext cx="3224213" cy="1177925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Proprietors keep</a:t>
            </a:r>
            <a:br>
              <a:rPr lang="en-US" altLang="en-US" sz="2000" b="1">
                <a:solidFill>
                  <a:srgbClr val="23408F"/>
                </a:solidFill>
              </a:rPr>
            </a:br>
            <a:r>
              <a:rPr lang="en-US" altLang="en-US" sz="2000" b="1">
                <a:solidFill>
                  <a:srgbClr val="23408F"/>
                </a:solidFill>
              </a:rPr>
              <a:t>all the profits</a:t>
            </a:r>
          </a:p>
        </p:txBody>
      </p:sp>
      <p:sp>
        <p:nvSpPr>
          <p:cNvPr id="27655" name="AutoShape 7"/>
          <p:cNvSpPr>
            <a:spLocks noChangeArrowheads="1"/>
          </p:cNvSpPr>
          <p:nvPr/>
        </p:nvSpPr>
        <p:spPr bwMode="auto">
          <a:xfrm>
            <a:off x="4910138" y="4476750"/>
            <a:ext cx="3224212" cy="1177925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Taxes are lower</a:t>
            </a:r>
            <a:br>
              <a:rPr lang="en-US" altLang="en-US" sz="2000" b="1">
                <a:solidFill>
                  <a:srgbClr val="23408F"/>
                </a:solidFill>
              </a:rPr>
            </a:br>
            <a:r>
              <a:rPr lang="en-US" altLang="en-US" sz="2000" b="1">
                <a:solidFill>
                  <a:srgbClr val="23408F"/>
                </a:solidFill>
              </a:rPr>
              <a:t>than a corporation’s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US" sz="2800" b="1" dirty="0">
                <a:solidFill>
                  <a:srgbClr val="00803D"/>
                </a:solidFill>
              </a:rPr>
              <a:t>sole proprietorship</a:t>
            </a:r>
            <a:br>
              <a:rPr lang="en-US" altLang="en-US" sz="2800" b="1" dirty="0">
                <a:solidFill>
                  <a:srgbClr val="00803D"/>
                </a:solidFill>
              </a:rPr>
            </a:br>
            <a:r>
              <a:rPr lang="en-US" altLang="en-US" sz="2800" dirty="0"/>
              <a:t>a business owned by one person</a:t>
            </a:r>
            <a:br>
              <a:rPr lang="en-US" altLang="en-US" sz="2800" dirty="0"/>
            </a:br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1494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solidFill>
                  <a:srgbClr val="23408F"/>
                </a:solidFill>
              </a:rPr>
              <a:t>Sole Proprietorships</a:t>
            </a:r>
          </a:p>
        </p:txBody>
      </p:sp>
      <p:sp>
        <p:nvSpPr>
          <p:cNvPr id="29701" name="Rectangle 5"/>
          <p:cNvSpPr>
            <a:spLocks noGrp="1" noChangeArrowheads="1"/>
          </p:cNvSpPr>
          <p:nvPr>
            <p:ph idx="1"/>
          </p:nvPr>
        </p:nvSpPr>
        <p:spPr>
          <a:xfrm>
            <a:off x="320675" y="2159000"/>
            <a:ext cx="7554964" cy="39671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 smtClean="0"/>
              <a:t>A major disadvantage of owning a sole proprietorship is that the owner has </a:t>
            </a:r>
            <a:r>
              <a:rPr lang="en-US" altLang="en-US" b="1" dirty="0" smtClean="0">
                <a:solidFill>
                  <a:srgbClr val="23408F"/>
                </a:solidFill>
              </a:rPr>
              <a:t>unlimited liability</a:t>
            </a:r>
            <a:r>
              <a:rPr lang="en-US" altLang="en-US" dirty="0" smtClean="0"/>
              <a:t>.</a:t>
            </a:r>
          </a:p>
        </p:txBody>
      </p:sp>
      <p:sp>
        <p:nvSpPr>
          <p:cNvPr id="147460" name="Text Box 4"/>
          <p:cNvSpPr txBox="1">
            <a:spLocks noChangeArrowheads="1"/>
          </p:cNvSpPr>
          <p:nvPr/>
        </p:nvSpPr>
        <p:spPr bwMode="auto">
          <a:xfrm>
            <a:off x="320675" y="3887531"/>
            <a:ext cx="755496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803D"/>
                </a:solidFill>
              </a:rPr>
              <a:t>unlimited liability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/>
              <a:t>when the owner is responsible for the company’s debts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4530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AutoShape 4"/>
          <p:cNvSpPr>
            <a:spLocks noChangeArrowheads="1"/>
          </p:cNvSpPr>
          <p:nvPr/>
        </p:nvSpPr>
        <p:spPr bwMode="auto">
          <a:xfrm>
            <a:off x="622351" y="2023807"/>
            <a:ext cx="8191500" cy="3959225"/>
          </a:xfrm>
          <a:prstGeom prst="roundRect">
            <a:avLst>
              <a:gd name="adj" fmla="val 3606"/>
            </a:avLst>
          </a:prstGeom>
          <a:solidFill>
            <a:srgbClr val="2340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bg1"/>
                </a:solidFill>
              </a:rPr>
              <a:t>Disadvantages of Sole Proprietorships</a:t>
            </a:r>
          </a:p>
        </p:txBody>
      </p:sp>
      <p:sp>
        <p:nvSpPr>
          <p:cNvPr id="31748" name="AutoShape 5"/>
          <p:cNvSpPr>
            <a:spLocks noChangeArrowheads="1"/>
          </p:cNvSpPr>
          <p:nvPr/>
        </p:nvSpPr>
        <p:spPr bwMode="auto">
          <a:xfrm>
            <a:off x="1082675" y="2987675"/>
            <a:ext cx="3224213" cy="1177925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Limited access</a:t>
            </a:r>
            <a:br>
              <a:rPr lang="en-US" altLang="en-US" sz="2000" b="1">
                <a:solidFill>
                  <a:srgbClr val="23408F"/>
                </a:solidFill>
              </a:rPr>
            </a:br>
            <a:r>
              <a:rPr lang="en-US" altLang="en-US" sz="2000" b="1">
                <a:solidFill>
                  <a:srgbClr val="23408F"/>
                </a:solidFill>
              </a:rPr>
              <a:t>to credit</a:t>
            </a:r>
          </a:p>
        </p:txBody>
      </p:sp>
      <p:sp>
        <p:nvSpPr>
          <p:cNvPr id="31749" name="AutoShape 8"/>
          <p:cNvSpPr>
            <a:spLocks noChangeArrowheads="1"/>
          </p:cNvSpPr>
          <p:nvPr/>
        </p:nvSpPr>
        <p:spPr bwMode="auto">
          <a:xfrm>
            <a:off x="4910138" y="2987675"/>
            <a:ext cx="3224212" cy="1177925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Many run out</a:t>
            </a:r>
            <a:br>
              <a:rPr lang="en-US" altLang="en-US" sz="2000" b="1">
                <a:solidFill>
                  <a:srgbClr val="23408F"/>
                </a:solidFill>
              </a:rPr>
            </a:br>
            <a:r>
              <a:rPr lang="en-US" altLang="en-US" sz="2000" b="1">
                <a:solidFill>
                  <a:srgbClr val="23408F"/>
                </a:solidFill>
              </a:rPr>
              <a:t>of money</a:t>
            </a:r>
          </a:p>
        </p:txBody>
      </p:sp>
      <p:sp>
        <p:nvSpPr>
          <p:cNvPr id="31750" name="AutoShape 9"/>
          <p:cNvSpPr>
            <a:spLocks noChangeArrowheads="1"/>
          </p:cNvSpPr>
          <p:nvPr/>
        </p:nvSpPr>
        <p:spPr bwMode="auto">
          <a:xfrm>
            <a:off x="1082675" y="4476750"/>
            <a:ext cx="3224213" cy="1177925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The owner may not have the necessary skills</a:t>
            </a:r>
          </a:p>
        </p:txBody>
      </p:sp>
      <p:sp>
        <p:nvSpPr>
          <p:cNvPr id="31751" name="AutoShape 10"/>
          <p:cNvSpPr>
            <a:spLocks noChangeArrowheads="1"/>
          </p:cNvSpPr>
          <p:nvPr/>
        </p:nvSpPr>
        <p:spPr bwMode="auto">
          <a:xfrm>
            <a:off x="4910138" y="4476750"/>
            <a:ext cx="3224212" cy="1177925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The business ends</a:t>
            </a:r>
            <a:br>
              <a:rPr lang="en-US" altLang="en-US" sz="2000" b="1">
                <a:solidFill>
                  <a:srgbClr val="23408F"/>
                </a:solidFill>
              </a:rPr>
            </a:br>
            <a:r>
              <a:rPr lang="en-US" altLang="en-US" sz="2000" b="1">
                <a:solidFill>
                  <a:srgbClr val="23408F"/>
                </a:solidFill>
              </a:rPr>
              <a:t>when the owner dies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17770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7145" y="409372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23408F"/>
                </a:solidFill>
              </a:rPr>
              <a:t>Partnerships</a:t>
            </a:r>
          </a:p>
        </p:txBody>
      </p:sp>
      <p:sp>
        <p:nvSpPr>
          <p:cNvPr id="33797" name="Rectangle 5"/>
          <p:cNvSpPr>
            <a:spLocks noGrp="1" noChangeArrowheads="1"/>
          </p:cNvSpPr>
          <p:nvPr>
            <p:ph idx="1"/>
          </p:nvPr>
        </p:nvSpPr>
        <p:spPr>
          <a:xfrm>
            <a:off x="320675" y="2159000"/>
            <a:ext cx="7422228" cy="39671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 smtClean="0"/>
              <a:t>To start a </a:t>
            </a:r>
            <a:r>
              <a:rPr lang="en-US" altLang="en-US" b="1" dirty="0" smtClean="0">
                <a:solidFill>
                  <a:srgbClr val="23408F"/>
                </a:solidFill>
              </a:rPr>
              <a:t>partnership</a:t>
            </a:r>
            <a:r>
              <a:rPr lang="en-US" altLang="en-US" dirty="0" smtClean="0"/>
              <a:t>, you need a partnership agreement.</a:t>
            </a:r>
          </a:p>
        </p:txBody>
      </p:sp>
      <p:sp>
        <p:nvSpPr>
          <p:cNvPr id="149508" name="Text Box 4"/>
          <p:cNvSpPr txBox="1">
            <a:spLocks noChangeArrowheads="1"/>
          </p:cNvSpPr>
          <p:nvPr/>
        </p:nvSpPr>
        <p:spPr bwMode="auto">
          <a:xfrm>
            <a:off x="320675" y="3542416"/>
            <a:ext cx="795317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803D"/>
                </a:solidFill>
              </a:rPr>
              <a:t>partnership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/>
              <a:t>a business owned by two or more people who share its risks and rewards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8775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AutoShape 3"/>
          <p:cNvSpPr>
            <a:spLocks noChangeArrowheads="1"/>
          </p:cNvSpPr>
          <p:nvPr/>
        </p:nvSpPr>
        <p:spPr bwMode="auto">
          <a:xfrm>
            <a:off x="519113" y="2082800"/>
            <a:ext cx="8191500" cy="3959225"/>
          </a:xfrm>
          <a:prstGeom prst="roundRect">
            <a:avLst>
              <a:gd name="adj" fmla="val 3606"/>
            </a:avLst>
          </a:prstGeom>
          <a:solidFill>
            <a:srgbClr val="2340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bg1"/>
                </a:solidFill>
              </a:rPr>
              <a:t>Advantages of Partnerships</a:t>
            </a:r>
          </a:p>
        </p:txBody>
      </p:sp>
      <p:sp>
        <p:nvSpPr>
          <p:cNvPr id="35844" name="AutoShape 4"/>
          <p:cNvSpPr>
            <a:spLocks noChangeArrowheads="1"/>
          </p:cNvSpPr>
          <p:nvPr/>
        </p:nvSpPr>
        <p:spPr bwMode="auto">
          <a:xfrm>
            <a:off x="809625" y="2836863"/>
            <a:ext cx="2166938" cy="1404937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Easy to </a:t>
            </a:r>
            <a:br>
              <a:rPr lang="en-US" altLang="en-US" sz="2000" b="1">
                <a:solidFill>
                  <a:srgbClr val="23408F"/>
                </a:solidFill>
              </a:rPr>
            </a:br>
            <a:r>
              <a:rPr lang="en-US" altLang="en-US" sz="2000" b="1">
                <a:solidFill>
                  <a:srgbClr val="23408F"/>
                </a:solidFill>
              </a:rPr>
              <a:t>start</a:t>
            </a:r>
          </a:p>
        </p:txBody>
      </p:sp>
      <p:sp>
        <p:nvSpPr>
          <p:cNvPr id="35845" name="AutoShape 8"/>
          <p:cNvSpPr>
            <a:spLocks noChangeArrowheads="1"/>
          </p:cNvSpPr>
          <p:nvPr/>
        </p:nvSpPr>
        <p:spPr bwMode="auto">
          <a:xfrm>
            <a:off x="3540125" y="2836863"/>
            <a:ext cx="2166938" cy="1404937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Easier to</a:t>
            </a:r>
            <a:br>
              <a:rPr lang="en-US" altLang="en-US" sz="2000" b="1">
                <a:solidFill>
                  <a:srgbClr val="23408F"/>
                </a:solidFill>
              </a:rPr>
            </a:br>
            <a:r>
              <a:rPr lang="en-US" altLang="en-US" sz="2000" b="1">
                <a:solidFill>
                  <a:srgbClr val="23408F"/>
                </a:solidFill>
              </a:rPr>
              <a:t>obtain capital</a:t>
            </a:r>
          </a:p>
        </p:txBody>
      </p:sp>
      <p:sp>
        <p:nvSpPr>
          <p:cNvPr id="35846" name="AutoShape 9"/>
          <p:cNvSpPr>
            <a:spLocks noChangeArrowheads="1"/>
          </p:cNvSpPr>
          <p:nvPr/>
        </p:nvSpPr>
        <p:spPr bwMode="auto">
          <a:xfrm>
            <a:off x="6270625" y="2836863"/>
            <a:ext cx="2166938" cy="1404937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Easier to</a:t>
            </a:r>
            <a:br>
              <a:rPr lang="en-US" altLang="en-US" sz="2000" b="1">
                <a:solidFill>
                  <a:srgbClr val="23408F"/>
                </a:solidFill>
              </a:rPr>
            </a:br>
            <a:r>
              <a:rPr lang="en-US" altLang="en-US" sz="2000" b="1">
                <a:solidFill>
                  <a:srgbClr val="23408F"/>
                </a:solidFill>
              </a:rPr>
              <a:t>obtain credit</a:t>
            </a:r>
          </a:p>
        </p:txBody>
      </p:sp>
      <p:sp>
        <p:nvSpPr>
          <p:cNvPr id="35847" name="AutoShape 13"/>
          <p:cNvSpPr>
            <a:spLocks noChangeArrowheads="1"/>
          </p:cNvSpPr>
          <p:nvPr/>
        </p:nvSpPr>
        <p:spPr bwMode="auto">
          <a:xfrm>
            <a:off x="809625" y="4440238"/>
            <a:ext cx="2166938" cy="1404937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Not dependent on a sole person</a:t>
            </a:r>
          </a:p>
        </p:txBody>
      </p:sp>
      <p:sp>
        <p:nvSpPr>
          <p:cNvPr id="35849" name="AutoShape 15"/>
          <p:cNvSpPr>
            <a:spLocks noChangeArrowheads="1"/>
          </p:cNvSpPr>
          <p:nvPr/>
        </p:nvSpPr>
        <p:spPr bwMode="auto">
          <a:xfrm>
            <a:off x="6270625" y="4440238"/>
            <a:ext cx="2166938" cy="1404937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Diversity in skills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8838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AutoShape 3"/>
          <p:cNvSpPr>
            <a:spLocks noChangeArrowheads="1"/>
          </p:cNvSpPr>
          <p:nvPr/>
        </p:nvSpPr>
        <p:spPr bwMode="auto">
          <a:xfrm>
            <a:off x="519113" y="2082800"/>
            <a:ext cx="8191500" cy="3959225"/>
          </a:xfrm>
          <a:prstGeom prst="roundRect">
            <a:avLst>
              <a:gd name="adj" fmla="val 3606"/>
            </a:avLst>
          </a:prstGeom>
          <a:solidFill>
            <a:srgbClr val="2340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bg1"/>
                </a:solidFill>
              </a:rPr>
              <a:t>Disadvantages of Partnerships</a:t>
            </a:r>
          </a:p>
        </p:txBody>
      </p:sp>
      <p:sp>
        <p:nvSpPr>
          <p:cNvPr id="37892" name="AutoShape 4"/>
          <p:cNvSpPr>
            <a:spLocks noChangeArrowheads="1"/>
          </p:cNvSpPr>
          <p:nvPr/>
        </p:nvSpPr>
        <p:spPr bwMode="auto">
          <a:xfrm>
            <a:off x="696913" y="3289300"/>
            <a:ext cx="2393950" cy="1649413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Business risk is shared</a:t>
            </a:r>
          </a:p>
        </p:txBody>
      </p:sp>
      <p:sp>
        <p:nvSpPr>
          <p:cNvPr id="37893" name="AutoShape 5"/>
          <p:cNvSpPr>
            <a:spLocks noChangeArrowheads="1"/>
          </p:cNvSpPr>
          <p:nvPr/>
        </p:nvSpPr>
        <p:spPr bwMode="auto">
          <a:xfrm>
            <a:off x="3413125" y="3289300"/>
            <a:ext cx="2393950" cy="1649413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Unlimited legal and financial liability is shared</a:t>
            </a:r>
          </a:p>
        </p:txBody>
      </p:sp>
      <p:sp>
        <p:nvSpPr>
          <p:cNvPr id="37894" name="AutoShape 6"/>
          <p:cNvSpPr>
            <a:spLocks noChangeArrowheads="1"/>
          </p:cNvSpPr>
          <p:nvPr/>
        </p:nvSpPr>
        <p:spPr bwMode="auto">
          <a:xfrm>
            <a:off x="6130925" y="3289300"/>
            <a:ext cx="2393950" cy="1649413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If one partner makes a mistake, all partners are responsible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6959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solidFill>
                  <a:srgbClr val="23408F"/>
                </a:solidFill>
              </a:rPr>
              <a:t>Corporations</a:t>
            </a:r>
          </a:p>
        </p:txBody>
      </p:sp>
      <p:sp>
        <p:nvSpPr>
          <p:cNvPr id="39941" name="Rectangle 5"/>
          <p:cNvSpPr>
            <a:spLocks noGrp="1" noChangeArrowheads="1"/>
          </p:cNvSpPr>
          <p:nvPr>
            <p:ph idx="1"/>
          </p:nvPr>
        </p:nvSpPr>
        <p:spPr>
          <a:xfrm>
            <a:off x="320675" y="2159000"/>
            <a:ext cx="7820435" cy="39671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 smtClean="0"/>
              <a:t>To form a </a:t>
            </a:r>
            <a:r>
              <a:rPr lang="en-US" altLang="en-US" b="1" dirty="0" smtClean="0">
                <a:solidFill>
                  <a:srgbClr val="23408F"/>
                </a:solidFill>
              </a:rPr>
              <a:t>corporation</a:t>
            </a:r>
            <a:r>
              <a:rPr lang="en-US" altLang="en-US" dirty="0" smtClean="0"/>
              <a:t>, the owners must get a corporate charter from the state where their main office will be located.</a:t>
            </a:r>
          </a:p>
        </p:txBody>
      </p:sp>
      <p:sp>
        <p:nvSpPr>
          <p:cNvPr id="152580" name="Text Box 4"/>
          <p:cNvSpPr txBox="1">
            <a:spLocks noChangeArrowheads="1"/>
          </p:cNvSpPr>
          <p:nvPr/>
        </p:nvSpPr>
        <p:spPr bwMode="auto">
          <a:xfrm>
            <a:off x="320675" y="3740047"/>
            <a:ext cx="754021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803D"/>
                </a:solidFill>
              </a:rPr>
              <a:t>corporation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/>
              <a:t>a company that is registered by a state and operates apart from its owners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1065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solidFill>
                  <a:srgbClr val="23408F"/>
                </a:solidFill>
              </a:rPr>
              <a:t>Corporations</a:t>
            </a:r>
          </a:p>
        </p:txBody>
      </p:sp>
      <p:sp>
        <p:nvSpPr>
          <p:cNvPr id="41989" name="Rectangle 5"/>
          <p:cNvSpPr>
            <a:spLocks noGrp="1" noChangeArrowheads="1"/>
          </p:cNvSpPr>
          <p:nvPr>
            <p:ph idx="1"/>
          </p:nvPr>
        </p:nvSpPr>
        <p:spPr>
          <a:xfrm>
            <a:off x="320675" y="2159000"/>
            <a:ext cx="8513609" cy="39671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b="1" dirty="0" smtClean="0">
                <a:solidFill>
                  <a:srgbClr val="23408F"/>
                </a:solidFill>
              </a:rPr>
              <a:t>Limited liability</a:t>
            </a:r>
            <a:r>
              <a:rPr lang="en-US" altLang="en-US" dirty="0" smtClean="0"/>
              <a:t> is a major advantage of a corporation.</a:t>
            </a:r>
          </a:p>
        </p:txBody>
      </p:sp>
      <p:sp>
        <p:nvSpPr>
          <p:cNvPr id="153604" name="Text Box 4"/>
          <p:cNvSpPr txBox="1">
            <a:spLocks noChangeArrowheads="1"/>
          </p:cNvSpPr>
          <p:nvPr/>
        </p:nvSpPr>
        <p:spPr bwMode="auto">
          <a:xfrm>
            <a:off x="320675" y="3754796"/>
            <a:ext cx="81946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803D"/>
                </a:solidFill>
              </a:rPr>
              <a:t>limited liability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/>
              <a:t>holds a firm’s owners responsible for no more than the capital that they have invested in 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8560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AutoShape 3"/>
          <p:cNvSpPr>
            <a:spLocks noChangeArrowheads="1"/>
          </p:cNvSpPr>
          <p:nvPr/>
        </p:nvSpPr>
        <p:spPr bwMode="auto">
          <a:xfrm>
            <a:off x="519113" y="1507614"/>
            <a:ext cx="8191500" cy="3959225"/>
          </a:xfrm>
          <a:prstGeom prst="roundRect">
            <a:avLst>
              <a:gd name="adj" fmla="val 3606"/>
            </a:avLst>
          </a:prstGeom>
          <a:solidFill>
            <a:srgbClr val="2340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bg1"/>
                </a:solidFill>
              </a:rPr>
              <a:t>Advantages of </a:t>
            </a:r>
            <a:r>
              <a:rPr lang="en-US" altLang="en-US" sz="2400" b="1" dirty="0" smtClean="0">
                <a:solidFill>
                  <a:schemeClr val="bg1"/>
                </a:solidFill>
              </a:rPr>
              <a:t>Corporation</a:t>
            </a:r>
            <a:endParaRPr lang="en-US" altLang="en-US" sz="2400" b="1" dirty="0">
              <a:solidFill>
                <a:schemeClr val="bg1"/>
              </a:solidFill>
            </a:endParaRPr>
          </a:p>
        </p:txBody>
      </p:sp>
      <p:sp>
        <p:nvSpPr>
          <p:cNvPr id="44036" name="AutoShape 4"/>
          <p:cNvSpPr>
            <a:spLocks noChangeArrowheads="1"/>
          </p:cNvSpPr>
          <p:nvPr/>
        </p:nvSpPr>
        <p:spPr bwMode="auto">
          <a:xfrm>
            <a:off x="696913" y="3289300"/>
            <a:ext cx="2393950" cy="1649413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Limited liability</a:t>
            </a:r>
          </a:p>
        </p:txBody>
      </p:sp>
      <p:sp>
        <p:nvSpPr>
          <p:cNvPr id="44037" name="AutoShape 5"/>
          <p:cNvSpPr>
            <a:spLocks noChangeArrowheads="1"/>
          </p:cNvSpPr>
          <p:nvPr/>
        </p:nvSpPr>
        <p:spPr bwMode="auto">
          <a:xfrm>
            <a:off x="3413125" y="3289300"/>
            <a:ext cx="2393950" cy="1649413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Ability to raise</a:t>
            </a:r>
            <a:br>
              <a:rPr lang="en-US" altLang="en-US" sz="2000" b="1">
                <a:solidFill>
                  <a:srgbClr val="23408F"/>
                </a:solidFill>
              </a:rPr>
            </a:br>
            <a:r>
              <a:rPr lang="en-US" altLang="en-US" sz="2000" b="1">
                <a:solidFill>
                  <a:srgbClr val="23408F"/>
                </a:solidFill>
              </a:rPr>
              <a:t>money by</a:t>
            </a:r>
            <a:br>
              <a:rPr lang="en-US" altLang="en-US" sz="2000" b="1">
                <a:solidFill>
                  <a:srgbClr val="23408F"/>
                </a:solidFill>
              </a:rPr>
            </a:br>
            <a:r>
              <a:rPr lang="en-US" altLang="en-US" sz="2000" b="1">
                <a:solidFill>
                  <a:srgbClr val="23408F"/>
                </a:solidFill>
              </a:rPr>
              <a:t>selling stock</a:t>
            </a:r>
          </a:p>
        </p:txBody>
      </p:sp>
      <p:sp>
        <p:nvSpPr>
          <p:cNvPr id="44038" name="AutoShape 6"/>
          <p:cNvSpPr>
            <a:spLocks noChangeArrowheads="1"/>
          </p:cNvSpPr>
          <p:nvPr/>
        </p:nvSpPr>
        <p:spPr bwMode="auto">
          <a:xfrm>
            <a:off x="6130925" y="3289300"/>
            <a:ext cx="2393950" cy="1649413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Business does</a:t>
            </a:r>
            <a:br>
              <a:rPr lang="en-US" altLang="en-US" sz="2000" b="1">
                <a:solidFill>
                  <a:srgbClr val="23408F"/>
                </a:solidFill>
              </a:rPr>
            </a:br>
            <a:r>
              <a:rPr lang="en-US" altLang="en-US" sz="2000" b="1">
                <a:solidFill>
                  <a:srgbClr val="23408F"/>
                </a:solidFill>
              </a:rPr>
              <a:t>not end when an</a:t>
            </a:r>
            <a:br>
              <a:rPr lang="en-US" altLang="en-US" sz="2000" b="1">
                <a:solidFill>
                  <a:srgbClr val="23408F"/>
                </a:solidFill>
              </a:rPr>
            </a:br>
            <a:r>
              <a:rPr lang="en-US" altLang="en-US" sz="2000" b="1">
                <a:solidFill>
                  <a:srgbClr val="23408F"/>
                </a:solidFill>
              </a:rPr>
              <a:t>owner dies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4075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AutoShape 3"/>
          <p:cNvSpPr>
            <a:spLocks noChangeArrowheads="1"/>
          </p:cNvSpPr>
          <p:nvPr/>
        </p:nvSpPr>
        <p:spPr bwMode="auto">
          <a:xfrm>
            <a:off x="519113" y="2082800"/>
            <a:ext cx="8191500" cy="3959225"/>
          </a:xfrm>
          <a:prstGeom prst="roundRect">
            <a:avLst>
              <a:gd name="adj" fmla="val 3606"/>
            </a:avLst>
          </a:prstGeom>
          <a:solidFill>
            <a:srgbClr val="2340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bg1"/>
                </a:solidFill>
              </a:rPr>
              <a:t>Disadvantages of </a:t>
            </a:r>
            <a:r>
              <a:rPr lang="en-US" altLang="en-US" sz="2400" b="1" dirty="0" smtClean="0">
                <a:solidFill>
                  <a:schemeClr val="bg1"/>
                </a:solidFill>
              </a:rPr>
              <a:t>Corporation</a:t>
            </a:r>
            <a:endParaRPr lang="en-US" altLang="en-US" sz="2400" b="1" dirty="0">
              <a:solidFill>
                <a:schemeClr val="bg1"/>
              </a:solidFill>
            </a:endParaRPr>
          </a:p>
        </p:txBody>
      </p:sp>
      <p:sp>
        <p:nvSpPr>
          <p:cNvPr id="46084" name="AutoShape 4"/>
          <p:cNvSpPr>
            <a:spLocks noChangeArrowheads="1"/>
          </p:cNvSpPr>
          <p:nvPr/>
        </p:nvSpPr>
        <p:spPr bwMode="auto">
          <a:xfrm>
            <a:off x="696913" y="2743200"/>
            <a:ext cx="2393950" cy="1649413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Double taxation</a:t>
            </a:r>
          </a:p>
        </p:txBody>
      </p:sp>
      <p:sp>
        <p:nvSpPr>
          <p:cNvPr id="46085" name="AutoShape 5"/>
          <p:cNvSpPr>
            <a:spLocks noChangeArrowheads="1"/>
          </p:cNvSpPr>
          <p:nvPr/>
        </p:nvSpPr>
        <p:spPr bwMode="auto">
          <a:xfrm>
            <a:off x="3413125" y="2743200"/>
            <a:ext cx="2393950" cy="1649413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More government</a:t>
            </a:r>
            <a:br>
              <a:rPr lang="en-US" altLang="en-US" sz="2000" b="1">
                <a:solidFill>
                  <a:srgbClr val="23408F"/>
                </a:solidFill>
              </a:rPr>
            </a:br>
            <a:r>
              <a:rPr lang="en-US" altLang="en-US" sz="2000" b="1">
                <a:solidFill>
                  <a:srgbClr val="23408F"/>
                </a:solidFill>
              </a:rPr>
              <a:t>regulation</a:t>
            </a:r>
          </a:p>
        </p:txBody>
      </p:sp>
      <p:sp>
        <p:nvSpPr>
          <p:cNvPr id="46086" name="AutoShape 6"/>
          <p:cNvSpPr>
            <a:spLocks noChangeArrowheads="1"/>
          </p:cNvSpPr>
          <p:nvPr/>
        </p:nvSpPr>
        <p:spPr bwMode="auto">
          <a:xfrm>
            <a:off x="6130925" y="2743200"/>
            <a:ext cx="2393950" cy="1649413"/>
          </a:xfrm>
          <a:prstGeom prst="roundRect">
            <a:avLst>
              <a:gd name="adj" fmla="val 3606"/>
            </a:avLst>
          </a:prstGeom>
          <a:solidFill>
            <a:srgbClr val="FFD94F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23408F"/>
                </a:solidFill>
              </a:rPr>
              <a:t>Difficult and</a:t>
            </a:r>
            <a:br>
              <a:rPr lang="en-US" altLang="en-US" sz="2000" b="1">
                <a:solidFill>
                  <a:srgbClr val="23408F"/>
                </a:solidFill>
              </a:rPr>
            </a:br>
            <a:r>
              <a:rPr lang="en-US" altLang="en-US" sz="2000" b="1">
                <a:solidFill>
                  <a:srgbClr val="23408F"/>
                </a:solidFill>
              </a:rPr>
              <a:t>costly to start</a:t>
            </a:r>
          </a:p>
        </p:txBody>
      </p:sp>
      <p:sp>
        <p:nvSpPr>
          <p:cNvPr id="46087" name="AutoShape 7"/>
          <p:cNvSpPr>
            <a:spLocks noChangeArrowheads="1"/>
          </p:cNvSpPr>
          <p:nvPr/>
        </p:nvSpPr>
        <p:spPr bwMode="auto">
          <a:xfrm>
            <a:off x="696913" y="4740275"/>
            <a:ext cx="3770312" cy="1122363"/>
          </a:xfrm>
          <a:prstGeom prst="roundRect">
            <a:avLst>
              <a:gd name="adj" fmla="val 3606"/>
            </a:avLst>
          </a:prstGeom>
          <a:solidFill>
            <a:schemeClr val="accent1"/>
          </a:solidFill>
          <a:ln w="381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>
            <a:lvl1pPr marL="342900" indent="-342900"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en-US" altLang="en-US" sz="2000" b="1">
                <a:solidFill>
                  <a:srgbClr val="23408F"/>
                </a:solidFill>
              </a:rPr>
              <a:t>Income is taxed.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en-US" altLang="en-US" sz="2000" b="1">
                <a:solidFill>
                  <a:srgbClr val="23408F"/>
                </a:solidFill>
              </a:rPr>
              <a:t>Stockholders pay taxes on profits issued to them</a:t>
            </a:r>
          </a:p>
        </p:txBody>
      </p:sp>
      <p:sp>
        <p:nvSpPr>
          <p:cNvPr id="46088" name="Line 8"/>
          <p:cNvSpPr>
            <a:spLocks noChangeShapeType="1"/>
          </p:cNvSpPr>
          <p:nvPr/>
        </p:nvSpPr>
        <p:spPr bwMode="auto">
          <a:xfrm>
            <a:off x="1819275" y="4392613"/>
            <a:ext cx="0" cy="330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2141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Other Ways to Organize a Business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320675" y="2159000"/>
            <a:ext cx="8669338" cy="8001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mtClean="0"/>
              <a:t>Other ways to organize a business include:</a:t>
            </a:r>
          </a:p>
        </p:txBody>
      </p:sp>
      <p:sp>
        <p:nvSpPr>
          <p:cNvPr id="48132" name="Oval 4"/>
          <p:cNvSpPr>
            <a:spLocks noChangeArrowheads="1"/>
          </p:cNvSpPr>
          <p:nvPr/>
        </p:nvSpPr>
        <p:spPr bwMode="auto">
          <a:xfrm>
            <a:off x="528638" y="3205163"/>
            <a:ext cx="2327275" cy="2327275"/>
          </a:xfrm>
          <a:prstGeom prst="ellipse">
            <a:avLst/>
          </a:prstGeom>
          <a:solidFill>
            <a:srgbClr val="2340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DC5B"/>
                </a:solidFill>
              </a:rPr>
              <a:t>Cooperative</a:t>
            </a:r>
          </a:p>
        </p:txBody>
      </p:sp>
      <p:sp>
        <p:nvSpPr>
          <p:cNvPr id="48133" name="Oval 5"/>
          <p:cNvSpPr>
            <a:spLocks noChangeArrowheads="1"/>
          </p:cNvSpPr>
          <p:nvPr/>
        </p:nvSpPr>
        <p:spPr bwMode="auto">
          <a:xfrm>
            <a:off x="3408363" y="3205163"/>
            <a:ext cx="2327275" cy="2327275"/>
          </a:xfrm>
          <a:prstGeom prst="ellipse">
            <a:avLst/>
          </a:prstGeom>
          <a:solidFill>
            <a:srgbClr val="2340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DC5B"/>
                </a:solidFill>
              </a:rPr>
              <a:t>Nonprofit</a:t>
            </a:r>
            <a:br>
              <a:rPr lang="en-US" altLang="en-US" sz="2000" b="1">
                <a:solidFill>
                  <a:srgbClr val="FFDC5B"/>
                </a:solidFill>
              </a:rPr>
            </a:br>
            <a:r>
              <a:rPr lang="en-US" altLang="en-US" sz="2000" b="1">
                <a:solidFill>
                  <a:srgbClr val="FFDC5B"/>
                </a:solidFill>
              </a:rPr>
              <a:t>Organization</a:t>
            </a:r>
          </a:p>
        </p:txBody>
      </p:sp>
      <p:sp>
        <p:nvSpPr>
          <p:cNvPr id="48134" name="Oval 6"/>
          <p:cNvSpPr>
            <a:spLocks noChangeArrowheads="1"/>
          </p:cNvSpPr>
          <p:nvPr/>
        </p:nvSpPr>
        <p:spPr bwMode="auto">
          <a:xfrm>
            <a:off x="6288088" y="3205163"/>
            <a:ext cx="2327275" cy="2327275"/>
          </a:xfrm>
          <a:prstGeom prst="ellipse">
            <a:avLst/>
          </a:prstGeom>
          <a:solidFill>
            <a:srgbClr val="2340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DC5B"/>
                </a:solidFill>
              </a:rPr>
              <a:t>Franchise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4966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Other Ways to Organize a Business</a:t>
            </a:r>
          </a:p>
        </p:txBody>
      </p:sp>
      <p:sp>
        <p:nvSpPr>
          <p:cNvPr id="50181" name="Rectangle 5"/>
          <p:cNvSpPr>
            <a:spLocks noGrp="1" noChangeArrowheads="1"/>
          </p:cNvSpPr>
          <p:nvPr>
            <p:ph idx="1"/>
          </p:nvPr>
        </p:nvSpPr>
        <p:spPr>
          <a:xfrm>
            <a:off x="320675" y="2159000"/>
            <a:ext cx="8823325" cy="39671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 smtClean="0"/>
              <a:t>The purpose of a </a:t>
            </a:r>
            <a:r>
              <a:rPr lang="en-US" altLang="en-US" b="1" dirty="0" smtClean="0">
                <a:solidFill>
                  <a:srgbClr val="23408F"/>
                </a:solidFill>
              </a:rPr>
              <a:t>cooperative</a:t>
            </a:r>
            <a:r>
              <a:rPr lang="en-US" altLang="en-US" dirty="0" smtClean="0"/>
              <a:t> is to save money on the purchase of certain goods and services.</a:t>
            </a:r>
          </a:p>
        </p:txBody>
      </p:sp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320675" y="3542416"/>
            <a:ext cx="787942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803D"/>
                </a:solidFill>
              </a:rPr>
              <a:t>cooperative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/>
              <a:t>an organization that is owned and operated by its members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1080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Other Ways to Organize a Business</a:t>
            </a:r>
          </a:p>
        </p:txBody>
      </p:sp>
      <p:sp>
        <p:nvSpPr>
          <p:cNvPr id="52229" name="Rectangle 5"/>
          <p:cNvSpPr>
            <a:spLocks noGrp="1" noChangeArrowheads="1"/>
          </p:cNvSpPr>
          <p:nvPr>
            <p:ph idx="1"/>
          </p:nvPr>
        </p:nvSpPr>
        <p:spPr>
          <a:xfrm>
            <a:off x="320675" y="2159000"/>
            <a:ext cx="8194675" cy="39671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 smtClean="0"/>
              <a:t>A </a:t>
            </a:r>
            <a:r>
              <a:rPr lang="en-US" altLang="en-US" b="1" dirty="0" smtClean="0">
                <a:solidFill>
                  <a:srgbClr val="23408F"/>
                </a:solidFill>
              </a:rPr>
              <a:t>nonprofit organization</a:t>
            </a:r>
            <a:r>
              <a:rPr lang="en-US" altLang="en-US" dirty="0" smtClean="0"/>
              <a:t> does not pay taxes because it does not make a profit.</a:t>
            </a:r>
          </a:p>
        </p:txBody>
      </p:sp>
      <p:sp>
        <p:nvSpPr>
          <p:cNvPr id="158724" name="Text Box 4"/>
          <p:cNvSpPr txBox="1">
            <a:spLocks noChangeArrowheads="1"/>
          </p:cNvSpPr>
          <p:nvPr/>
        </p:nvSpPr>
        <p:spPr bwMode="auto">
          <a:xfrm>
            <a:off x="320675" y="3666305"/>
            <a:ext cx="801216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803D"/>
                </a:solidFill>
              </a:rPr>
              <a:t>nonprofit organization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/>
              <a:t>a type of business that focuses on providing a service, not making a profit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2805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Other Ways to Organize a Business</a:t>
            </a:r>
          </a:p>
        </p:txBody>
      </p:sp>
      <p:sp>
        <p:nvSpPr>
          <p:cNvPr id="54277" name="Rectangle 5"/>
          <p:cNvSpPr>
            <a:spLocks noGrp="1" noChangeArrowheads="1"/>
          </p:cNvSpPr>
          <p:nvPr>
            <p:ph idx="1"/>
          </p:nvPr>
        </p:nvSpPr>
        <p:spPr>
          <a:xfrm>
            <a:off x="320675" y="2159000"/>
            <a:ext cx="8012164" cy="39671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 smtClean="0"/>
              <a:t>To run a </a:t>
            </a:r>
            <a:r>
              <a:rPr lang="en-US" altLang="en-US" b="1" dirty="0" smtClean="0">
                <a:solidFill>
                  <a:srgbClr val="23408F"/>
                </a:solidFill>
              </a:rPr>
              <a:t>franchise</a:t>
            </a:r>
            <a:r>
              <a:rPr lang="en-US" altLang="en-US" dirty="0" smtClean="0"/>
              <a:t>, you have to invest money and pay franchise fees or a share of the profits.</a:t>
            </a:r>
          </a:p>
        </p:txBody>
      </p:sp>
      <p:sp>
        <p:nvSpPr>
          <p:cNvPr id="159748" name="Text Box 4"/>
          <p:cNvSpPr txBox="1">
            <a:spLocks noChangeArrowheads="1"/>
          </p:cNvSpPr>
          <p:nvPr/>
        </p:nvSpPr>
        <p:spPr bwMode="auto">
          <a:xfrm>
            <a:off x="320675" y="3843338"/>
            <a:ext cx="79089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803D"/>
                </a:solidFill>
              </a:rPr>
              <a:t>franchise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/>
              <a:t>a contractual agreement to use the name and sell the products or services of a company in a designated geographic area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0036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Text Box 5"/>
          <p:cNvSpPr txBox="1">
            <a:spLocks noChangeArrowheads="1"/>
          </p:cNvSpPr>
          <p:nvPr/>
        </p:nvSpPr>
        <p:spPr bwMode="auto">
          <a:xfrm>
            <a:off x="1003300" y="2366963"/>
            <a:ext cx="71580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en-US" altLang="en-US" sz="2400" b="1">
                <a:solidFill>
                  <a:srgbClr val="23408F"/>
                </a:solidFill>
              </a:rPr>
              <a:t>What is the difference between a sole proprietorship and a partnership?</a:t>
            </a:r>
          </a:p>
        </p:txBody>
      </p: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1003300" y="3343275"/>
            <a:ext cx="71580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B40000"/>
                </a:solidFill>
                <a:cs typeface="Times New Roman" panose="02020603050405020304" pitchFamily="18" charset="0"/>
              </a:rPr>
              <a:t>A sole proprietorship is owned by one person. A partnership is owned by two or more people.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5339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1003300" y="2366963"/>
            <a:ext cx="71580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 startAt="2"/>
            </a:pPr>
            <a:r>
              <a:rPr lang="en-US" altLang="en-US" sz="2400" b="1">
                <a:solidFill>
                  <a:srgbClr val="23408F"/>
                </a:solidFill>
              </a:rPr>
              <a:t>If a partner makes a bad decision, what responsibility do the other partners have?</a:t>
            </a: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1003300" y="3252788"/>
            <a:ext cx="71580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B40000"/>
                </a:solidFill>
                <a:cs typeface="Times New Roman" panose="02020603050405020304" pitchFamily="18" charset="0"/>
              </a:rPr>
              <a:t>All partners share responsibility for a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B40000"/>
                </a:solidFill>
                <a:cs typeface="Times New Roman" panose="02020603050405020304" pitchFamily="18" charset="0"/>
              </a:rPr>
              <a:t>bad decision.</a:t>
            </a:r>
            <a:r>
              <a:rPr lang="en-US" altLang="en-US" sz="2400" b="1">
                <a:solidFill>
                  <a:srgbClr val="B40000"/>
                </a:solidFill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9402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1003300" y="2366963"/>
            <a:ext cx="7158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 startAt="3"/>
            </a:pPr>
            <a:r>
              <a:rPr lang="en-US" altLang="en-US" sz="2400" b="1">
                <a:solidFill>
                  <a:srgbClr val="23408F"/>
                </a:solidFill>
              </a:rPr>
              <a:t>Why are cooperatives formed?</a:t>
            </a:r>
          </a:p>
        </p:txBody>
      </p:sp>
      <p:sp>
        <p:nvSpPr>
          <p:cNvPr id="49165" name="Text Box 13"/>
          <p:cNvSpPr txBox="1">
            <a:spLocks noChangeArrowheads="1"/>
          </p:cNvSpPr>
          <p:nvPr/>
        </p:nvSpPr>
        <p:spPr bwMode="auto">
          <a:xfrm>
            <a:off x="1003300" y="3033713"/>
            <a:ext cx="7158038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05000"/>
              </a:lnSpc>
              <a:spcBef>
                <a:spcPct val="3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spcBef>
                <a:spcPct val="3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spcBef>
                <a:spcPct val="3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spcBef>
                <a:spcPct val="3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spcBef>
                <a:spcPct val="3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B40000"/>
                </a:solidFill>
                <a:cs typeface="Times New Roman" panose="02020603050405020304" pitchFamily="18" charset="0"/>
              </a:rPr>
              <a:t>so that the members have advantages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B40000"/>
                </a:solidFill>
                <a:cs typeface="Times New Roman" panose="02020603050405020304" pitchFamily="18" charset="0"/>
              </a:rPr>
              <a:t>in buying and selling products and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B40000"/>
                </a:solidFill>
                <a:cs typeface="Times New Roman" panose="02020603050405020304" pitchFamily="18" charset="0"/>
              </a:rPr>
              <a:t>services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6198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680</Words>
  <Application>Microsoft Office PowerPoint</Application>
  <PresentationFormat>On-screen Show (4:3)</PresentationFormat>
  <Paragraphs>131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Organizing a Business</vt:lpstr>
      <vt:lpstr>U.S. Sole Proprietorships, Partnerships, and Corporations</vt:lpstr>
      <vt:lpstr>sole proprietorship a business owned by one person </vt:lpstr>
      <vt:lpstr>Sole Proprietorships</vt:lpstr>
      <vt:lpstr>PowerPoint Presentation</vt:lpstr>
      <vt:lpstr>Partnerships</vt:lpstr>
      <vt:lpstr>PowerPoint Presentation</vt:lpstr>
      <vt:lpstr>PowerPoint Presentation</vt:lpstr>
      <vt:lpstr>Corporations</vt:lpstr>
      <vt:lpstr>Corporations</vt:lpstr>
      <vt:lpstr>PowerPoint Presentation</vt:lpstr>
      <vt:lpstr>PowerPoint Presentation</vt:lpstr>
      <vt:lpstr>Other Ways to Organize a Business</vt:lpstr>
      <vt:lpstr>Other Ways to Organize a Business</vt:lpstr>
      <vt:lpstr>Other Ways to Organize a Business</vt:lpstr>
      <vt:lpstr>Other Ways to Organize a Business</vt:lpstr>
      <vt:lpstr>PowerPoint Presentation</vt:lpstr>
      <vt:lpstr>PowerPoint Presentation</vt:lpstr>
      <vt:lpstr>PowerPoint Presentation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Aileen</dc:creator>
  <cp:lastModifiedBy>Aileen</cp:lastModifiedBy>
  <cp:revision>10</cp:revision>
  <dcterms:created xsi:type="dcterms:W3CDTF">2019-07-10T14:30:06Z</dcterms:created>
  <dcterms:modified xsi:type="dcterms:W3CDTF">2019-07-10T14:52:18Z</dcterms:modified>
</cp:coreProperties>
</file>