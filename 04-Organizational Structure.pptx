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1" r:id="rId6"/>
    <p:sldMasterId id="214748365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jl8cbnclBnolYbQiCj1T/c0gQg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36" Type="http://customschemas.google.com/relationships/presentationmetadata" Target="meta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rebuchet M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/>
          <p:nvPr>
            <p:ph idx="1" type="body"/>
          </p:nvPr>
        </p:nvSpPr>
        <p:spPr>
          <a:xfrm>
            <a:off x="179388" y="332656"/>
            <a:ext cx="8713092" cy="108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60"/>
              </a:spcBef>
              <a:spcAft>
                <a:spcPts val="0"/>
              </a:spcAft>
              <a:buSzPts val="4940"/>
              <a:buNone/>
              <a:defRPr sz="3800"/>
            </a:lvl1pPr>
            <a:lvl2pPr indent="-377190" lvl="1" marL="9144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2pPr>
            <a:lvl3pPr indent="-377189" lvl="2" marL="13716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3pPr>
            <a:lvl4pPr indent="-377189" lvl="3" marL="18288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4pPr>
            <a:lvl5pPr indent="-377189" lvl="4" marL="22860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5pPr>
            <a:lvl6pPr indent="-377189" lvl="5" marL="27432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6pPr>
            <a:lvl7pPr indent="-377189" lvl="6" marL="32004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7pPr>
            <a:lvl8pPr indent="-377190" lvl="7" marL="36576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8pPr>
            <a:lvl9pPr indent="-377190" lvl="8" marL="4114800" algn="l">
              <a:spcBef>
                <a:spcPts val="360"/>
              </a:spcBef>
              <a:spcAft>
                <a:spcPts val="300"/>
              </a:spcAft>
              <a:buSzPts val="2340"/>
              <a:buChar char="*"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2" type="body"/>
          </p:nvPr>
        </p:nvSpPr>
        <p:spPr>
          <a:xfrm>
            <a:off x="179512" y="1556792"/>
            <a:ext cx="8712968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04040"/>
              </a:buClr>
              <a:buSzPts val="3640"/>
              <a:buFont typeface="Arial"/>
              <a:buChar char="•"/>
              <a:defRPr sz="2800"/>
            </a:lvl1pPr>
            <a:lvl2pPr indent="-443230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404040"/>
              </a:buClr>
              <a:buSzPts val="3380"/>
              <a:buFont typeface="Arial"/>
              <a:buChar char="•"/>
              <a:defRPr sz="2600"/>
            </a:lvl2pPr>
            <a:lvl3pPr indent="-426719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04040"/>
              </a:buClr>
              <a:buSzPts val="3120"/>
              <a:buFont typeface="Arial"/>
              <a:buChar char="•"/>
              <a:defRPr sz="2400"/>
            </a:lvl3pPr>
            <a:lvl4pPr indent="-410210" lvl="3" marL="18288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040"/>
              </a:buClr>
              <a:buSzPts val="2860"/>
              <a:buFont typeface="Arial"/>
              <a:buChar char="•"/>
              <a:defRPr sz="2200"/>
            </a:lvl4pPr>
            <a:lvl5pPr indent="-3937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Arial"/>
              <a:buChar char="•"/>
              <a:defRPr sz="2000"/>
            </a:lvl5pPr>
            <a:lvl6pPr indent="-377189" lvl="5" marL="27432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6pPr>
            <a:lvl7pPr indent="-377189" lvl="6" marL="32004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7pPr>
            <a:lvl8pPr indent="-377190" lvl="7" marL="36576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8pPr>
            <a:lvl9pPr indent="-377190" lvl="8" marL="4114800" algn="l">
              <a:spcBef>
                <a:spcPts val="360"/>
              </a:spcBef>
              <a:spcAft>
                <a:spcPts val="300"/>
              </a:spcAft>
              <a:buSzPts val="2340"/>
              <a:buChar char="*"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3" type="body"/>
          </p:nvPr>
        </p:nvSpPr>
        <p:spPr>
          <a:xfrm>
            <a:off x="179512" y="6525344"/>
            <a:ext cx="8676456" cy="288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200"/>
              </a:spcBef>
              <a:spcAft>
                <a:spcPts val="0"/>
              </a:spcAft>
              <a:buSzPts val="1300"/>
              <a:buNone/>
              <a:defRPr sz="1000">
                <a:solidFill>
                  <a:schemeClr val="dk1"/>
                </a:solidFill>
              </a:defRPr>
            </a:lvl1pPr>
            <a:lvl2pPr indent="-377190" lvl="1" marL="9144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2pPr>
            <a:lvl3pPr indent="-377189" lvl="2" marL="13716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3pPr>
            <a:lvl4pPr indent="-377189" lvl="3" marL="18288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4pPr>
            <a:lvl5pPr indent="-377189" lvl="4" marL="22860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5pPr>
            <a:lvl6pPr indent="-377189" lvl="5" marL="27432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6pPr>
            <a:lvl7pPr indent="-377189" lvl="6" marL="32004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7pPr>
            <a:lvl8pPr indent="-377190" lvl="7" marL="3657600" algn="l">
              <a:spcBef>
                <a:spcPts val="360"/>
              </a:spcBef>
              <a:spcAft>
                <a:spcPts val="0"/>
              </a:spcAft>
              <a:buSzPts val="2340"/>
              <a:buChar char="*"/>
              <a:defRPr/>
            </a:lvl8pPr>
            <a:lvl9pPr indent="-377190" lvl="8" marL="4114800" algn="l">
              <a:spcBef>
                <a:spcPts val="360"/>
              </a:spcBef>
              <a:spcAft>
                <a:spcPts val="300"/>
              </a:spcAft>
              <a:buSzPts val="2340"/>
              <a:buChar char="*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idx="1" type="subTitle"/>
          </p:nvPr>
        </p:nvSpPr>
        <p:spPr>
          <a:xfrm>
            <a:off x="1473795" y="5052545"/>
            <a:ext cx="5637010" cy="882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40"/>
              </a:spcBef>
              <a:spcAft>
                <a:spcPts val="0"/>
              </a:spcAft>
              <a:buSzPts val="2860"/>
              <a:buNone/>
              <a:defRPr sz="2200">
                <a:solidFill>
                  <a:schemeClr val="dk2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2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234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20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SzPts val="18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SzPts val="18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SzPts val="18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SzPts val="18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300"/>
              </a:spcAft>
              <a:buSzPts val="18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32"/>
          <p:cNvSpPr txBox="1"/>
          <p:nvPr>
            <p:ph type="ctrTitle"/>
          </p:nvPr>
        </p:nvSpPr>
        <p:spPr>
          <a:xfrm>
            <a:off x="817581" y="3132290"/>
            <a:ext cx="7175351" cy="179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912"/>
              <a:buChar char="*"/>
              <a:defRPr sz="5400"/>
            </a:lvl1pPr>
            <a:lvl2pPr lvl="1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2033195" y="2172648"/>
            <a:ext cx="5966666" cy="2423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888"/>
              <a:buChar char="*"/>
              <a:defRPr b="1" sz="4600" cap="none"/>
            </a:lvl1pPr>
            <a:lvl2pPr lvl="1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304"/>
              <a:buChar char="*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" type="body"/>
          </p:nvPr>
        </p:nvSpPr>
        <p:spPr>
          <a:xfrm>
            <a:off x="2022438" y="4607511"/>
            <a:ext cx="5970494" cy="83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3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0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8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8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8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8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8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00"/>
              </a:spcBef>
              <a:spcAft>
                <a:spcPts val="300"/>
              </a:spcAft>
              <a:buSzPts val="18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34"/>
          <p:cNvSpPr txBox="1"/>
          <p:nvPr>
            <p:ph idx="10" type="dt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1" type="ftr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2" type="sldNum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/>
        </p:nvSpPr>
        <p:spPr>
          <a:xfrm>
            <a:off x="8610600" y="6537325"/>
            <a:ext cx="4572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" name="Google Shape;11;p28"/>
          <p:cNvSpPr txBox="1"/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" type="body"/>
          </p:nvPr>
        </p:nvSpPr>
        <p:spPr>
          <a:xfrm>
            <a:off x="1143000" y="731837"/>
            <a:ext cx="6400800" cy="347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021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C3260C"/>
              </a:buClr>
              <a:buSzPts val="2860"/>
              <a:buFont typeface="Georgia"/>
              <a:buChar char="*"/>
              <a:defRPr b="0" i="0" sz="2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937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C3260C"/>
              </a:buClr>
              <a:buSzPts val="2600"/>
              <a:buFont typeface="Georgia"/>
              <a:buChar char="*"/>
              <a:defRPr b="0" i="0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77189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C3260C"/>
              </a:buClr>
              <a:buSzPts val="2340"/>
              <a:buFont typeface="Georgia"/>
              <a:buChar char="*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6068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C3260C"/>
              </a:buClr>
              <a:buSzPts val="2080"/>
              <a:buFont typeface="Georgia"/>
              <a:buChar char="*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417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417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44170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4417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44170" lvl="8" marL="4114800" marR="0" rtl="0" algn="l">
              <a:spcBef>
                <a:spcPts val="300"/>
              </a:spcBef>
              <a:spcAft>
                <a:spcPts val="30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rgbClr val="FFFFFF">
                  <a:alpha val="90980"/>
                </a:srgbClr>
              </a:gs>
              <a:gs pos="37000">
                <a:srgbClr val="FFFFFF">
                  <a:alpha val="75686"/>
                </a:srgbClr>
              </a:gs>
              <a:gs pos="100000">
                <a:srgbClr val="B4DCFA">
                  <a:alpha val="7882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" name="Google Shape;19;p30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>
            <a:gsLst>
              <a:gs pos="0">
                <a:srgbClr val="FFFFFF">
                  <a:alpha val="88627"/>
                </a:srgbClr>
              </a:gs>
              <a:gs pos="48000">
                <a:srgbClr val="FFFFFF">
                  <a:alpha val="61960"/>
                </a:srgbClr>
              </a:gs>
              <a:gs pos="100000">
                <a:srgbClr val="B4DCFA">
                  <a:alpha val="7882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" name="Google Shape;20;p30"/>
          <p:cNvSpPr txBox="1"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28999">
                <a:srgbClr val="FFFFFF"/>
              </a:gs>
              <a:gs pos="44999">
                <a:srgbClr val="B4DCFA"/>
              </a:gs>
              <a:gs pos="55000">
                <a:srgbClr val="FFFFFF"/>
              </a:gs>
              <a:gs pos="64999">
                <a:srgbClr val="B4DCF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" name="Google Shape;21;p3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>
            <a:gsLst>
              <a:gs pos="0">
                <a:schemeClr val="lt1"/>
              </a:gs>
              <a:gs pos="5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" name="Google Shape;22;p30"/>
          <p:cNvSpPr txBox="1"/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1143000" y="731837"/>
            <a:ext cx="6400800" cy="347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021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C3260C"/>
              </a:buClr>
              <a:buSzPts val="2860"/>
              <a:buFont typeface="Georgia"/>
              <a:buChar char="*"/>
              <a:defRPr b="0" i="0" sz="2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937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C3260C"/>
              </a:buClr>
              <a:buSzPts val="2600"/>
              <a:buFont typeface="Georgia"/>
              <a:buChar char="*"/>
              <a:defRPr b="0" i="0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77189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C3260C"/>
              </a:buClr>
              <a:buSzPts val="2340"/>
              <a:buFont typeface="Georgia"/>
              <a:buChar char="*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6068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C3260C"/>
              </a:buClr>
              <a:buSzPts val="2080"/>
              <a:buFont typeface="Georgia"/>
              <a:buChar char="*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417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417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44170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4417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44170" lvl="8" marL="4114800" marR="0" rtl="0" algn="l">
              <a:spcBef>
                <a:spcPts val="300"/>
              </a:spcBef>
              <a:spcAft>
                <a:spcPts val="30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rgbClr val="FFFFFF">
                  <a:alpha val="90980"/>
                </a:srgbClr>
              </a:gs>
              <a:gs pos="37000">
                <a:srgbClr val="FFFFFF">
                  <a:alpha val="75686"/>
                </a:srgbClr>
              </a:gs>
              <a:gs pos="100000">
                <a:srgbClr val="B4DCFA">
                  <a:alpha val="7882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" name="Google Shape;29;p3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>
            <a:gsLst>
              <a:gs pos="0">
                <a:srgbClr val="FFFFFF">
                  <a:alpha val="88627"/>
                </a:srgbClr>
              </a:gs>
              <a:gs pos="48000">
                <a:srgbClr val="FFFFFF">
                  <a:alpha val="61960"/>
                </a:srgbClr>
              </a:gs>
              <a:gs pos="100000">
                <a:srgbClr val="B4DCFA">
                  <a:alpha val="7882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" name="Google Shape;30;p31"/>
          <p:cNvSpPr txBox="1"/>
          <p:nvPr/>
        </p:nvSpPr>
        <p:spPr>
          <a:xfrm>
            <a:off x="0" y="2652712"/>
            <a:ext cx="91440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28999">
                <a:srgbClr val="FFFFFF"/>
              </a:gs>
              <a:gs pos="44999">
                <a:srgbClr val="B4DCFA"/>
              </a:gs>
              <a:gs pos="55000">
                <a:srgbClr val="FFFFFF"/>
              </a:gs>
              <a:gs pos="64999">
                <a:srgbClr val="B4DCF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" name="Google Shape;31;p31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>
            <a:gsLst>
              <a:gs pos="0">
                <a:schemeClr val="lt1"/>
              </a:gs>
              <a:gs pos="5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31"/>
          <p:cNvSpPr txBox="1"/>
          <p:nvPr/>
        </p:nvSpPr>
        <p:spPr>
          <a:xfrm>
            <a:off x="3314700" y="6534150"/>
            <a:ext cx="573087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b="1" i="1" lang="en-US" sz="1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Copyright © 2013 by The McGraw-Hill Companies, Inc. All rights reserved.</a:t>
            </a:r>
            <a:endParaRPr/>
          </a:p>
        </p:txBody>
      </p:sp>
      <p:sp>
        <p:nvSpPr>
          <p:cNvPr id="33" name="Google Shape;33;p31"/>
          <p:cNvSpPr txBox="1"/>
          <p:nvPr/>
        </p:nvSpPr>
        <p:spPr>
          <a:xfrm>
            <a:off x="152400" y="6537325"/>
            <a:ext cx="18129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b="1" i="1" lang="en-US" sz="1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McGraw-Hill/Irwin</a:t>
            </a:r>
            <a:endParaRPr/>
          </a:p>
        </p:txBody>
      </p:sp>
      <p:sp>
        <p:nvSpPr>
          <p:cNvPr id="34" name="Google Shape;34;p31"/>
          <p:cNvSpPr txBox="1"/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1143000" y="731837"/>
            <a:ext cx="6400800" cy="347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021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C3260C"/>
              </a:buClr>
              <a:buSzPts val="2860"/>
              <a:buFont typeface="Georgia"/>
              <a:buChar char="*"/>
              <a:defRPr b="0" i="0" sz="2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937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C3260C"/>
              </a:buClr>
              <a:buSzPts val="2600"/>
              <a:buFont typeface="Georgia"/>
              <a:buChar char="*"/>
              <a:defRPr b="0" i="0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77189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C3260C"/>
              </a:buClr>
              <a:buSzPts val="2340"/>
              <a:buFont typeface="Georgia"/>
              <a:buChar char="*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6068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C3260C"/>
              </a:buClr>
              <a:buSzPts val="2080"/>
              <a:buFont typeface="Georgia"/>
              <a:buChar char="*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417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417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44170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4417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44170" lvl="8" marL="4114800" marR="0" rtl="0" algn="l">
              <a:spcBef>
                <a:spcPts val="300"/>
              </a:spcBef>
              <a:spcAft>
                <a:spcPts val="30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rgbClr val="FFFFFF">
                  <a:alpha val="91764"/>
                </a:srgbClr>
              </a:gs>
              <a:gs pos="37000">
                <a:srgbClr val="FFFFFF">
                  <a:alpha val="76862"/>
                </a:srgbClr>
              </a:gs>
              <a:gs pos="100000">
                <a:srgbClr val="B4DCFA">
                  <a:alpha val="8000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33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>
            <a:gsLst>
              <a:gs pos="0">
                <a:srgbClr val="FFFFFF">
                  <a:alpha val="89803"/>
                </a:srgbClr>
              </a:gs>
              <a:gs pos="48000">
                <a:srgbClr val="FFFFFF">
                  <a:alpha val="62745"/>
                </a:srgbClr>
              </a:gs>
              <a:gs pos="100000">
                <a:srgbClr val="B4DCFA">
                  <a:alpha val="8000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33"/>
          <p:cNvSpPr txBox="1"/>
          <p:nvPr/>
        </p:nvSpPr>
        <p:spPr>
          <a:xfrm>
            <a:off x="0" y="2652712"/>
            <a:ext cx="91440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28999">
                <a:srgbClr val="FFFFFF"/>
              </a:gs>
              <a:gs pos="44999">
                <a:srgbClr val="B4DCFA"/>
              </a:gs>
              <a:gs pos="55000">
                <a:srgbClr val="FFFFFF"/>
              </a:gs>
              <a:gs pos="64999">
                <a:srgbClr val="B4DCF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" name="Google Shape;43;p3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>
            <a:gsLst>
              <a:gs pos="0">
                <a:schemeClr val="lt1"/>
              </a:gs>
              <a:gs pos="5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" name="Google Shape;44;p33"/>
          <p:cNvSpPr txBox="1"/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5888"/>
              <a:buFont typeface="Georgia"/>
              <a:buChar char="*"/>
              <a:defRPr b="1" i="0" sz="4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" name="Google Shape;45;p33"/>
          <p:cNvSpPr txBox="1"/>
          <p:nvPr>
            <p:ph idx="1" type="body"/>
          </p:nvPr>
        </p:nvSpPr>
        <p:spPr>
          <a:xfrm>
            <a:off x="1143000" y="731837"/>
            <a:ext cx="6400800" cy="347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021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C3260C"/>
              </a:buClr>
              <a:buSzPts val="2860"/>
              <a:buFont typeface="Georgia"/>
              <a:buChar char="*"/>
              <a:defRPr b="0" i="0" sz="22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937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C3260C"/>
              </a:buClr>
              <a:buSzPts val="2600"/>
              <a:buFont typeface="Georgia"/>
              <a:buChar char="*"/>
              <a:defRPr b="0" i="0" sz="20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77189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C3260C"/>
              </a:buClr>
              <a:buSzPts val="2340"/>
              <a:buFont typeface="Georgia"/>
              <a:buChar char="*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6068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C3260C"/>
              </a:buClr>
              <a:buSzPts val="2080"/>
              <a:buFont typeface="Georgia"/>
              <a:buChar char="*"/>
              <a:defRPr b="0" i="0" sz="16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417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417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44170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4417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44170" lvl="8" marL="4114800" marR="0" rtl="0" algn="l">
              <a:spcBef>
                <a:spcPts val="300"/>
              </a:spcBef>
              <a:spcAft>
                <a:spcPts val="300"/>
              </a:spcAft>
              <a:buClr>
                <a:srgbClr val="C3260C"/>
              </a:buClr>
              <a:buSzPts val="1820"/>
              <a:buFont typeface="Georgia"/>
              <a:buChar char="*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  <a:defRPr b="1" i="0" sz="1200" u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idx="1" type="body"/>
          </p:nvPr>
        </p:nvSpPr>
        <p:spPr>
          <a:xfrm>
            <a:off x="203200" y="29241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Organizational Structure</a:t>
            </a:r>
            <a:endParaRPr/>
          </a:p>
        </p:txBody>
      </p:sp>
      <p:sp>
        <p:nvSpPr>
          <p:cNvPr id="60" name="Google Shape;60;p1"/>
          <p:cNvSpPr txBox="1"/>
          <p:nvPr>
            <p:ph idx="1" type="body"/>
          </p:nvPr>
        </p:nvSpPr>
        <p:spPr>
          <a:xfrm>
            <a:off x="179387" y="6524625"/>
            <a:ext cx="8677275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3260C"/>
              </a:buClr>
              <a:buSzPts val="2860"/>
              <a:buFont typeface="Georgia"/>
              <a:buNone/>
            </a:pPr>
            <a:r>
              <a:t/>
            </a:r>
            <a:endParaRPr sz="22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5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Trebuchet MS"/>
              <a:buAutoNum type="arabicPeriod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the factors that influence managers’ choice of an organizational structure</a:t>
            </a:r>
            <a:endParaRPr/>
          </a:p>
          <a:p>
            <a:pPr indent="-514350" lvl="0" marL="5588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Trebuchet MS"/>
              <a:buAutoNum type="arabicPeriod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 how managers group tasks into jobs that are motivating and satisfying for employees</a:t>
            </a:r>
            <a:endParaRPr/>
          </a:p>
          <a:p>
            <a:pPr indent="-514350" lvl="0" marL="5588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Trebuchet MS"/>
              <a:buAutoNum type="arabicPeriod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Describe the types of organizational structures managers can design, and explain why they choose one structure over another</a:t>
            </a:r>
            <a:endParaRPr/>
          </a:p>
          <a:p>
            <a:pPr indent="-514350" lvl="0" marL="5588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Trebuchet MS"/>
              <a:buAutoNum type="arabicPeriod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 why managers must coordinate jobs, functions, and divisions using the hierarchy of authority and integrating mechanisms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Designing Organizational Structure</a:t>
            </a:r>
            <a:endParaRPr/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Organizational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Formal system of task and reporting relationships that coordinates and motivates organizational members so that they work together to achieve organizational goals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Organizational design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Process by which managers make specific organizing choices that result in a particular kind of organizational structure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7.1 - Factors Affecting</a:t>
            </a:r>
            <a:b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Organizational Structure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81" name="Google Shape;81;p4"/>
          <p:cNvPicPr preferRelativeResize="0"/>
          <p:nvPr/>
        </p:nvPicPr>
        <p:blipFill rotWithShape="1">
          <a:blip r:embed="rId3">
            <a:alphaModFix/>
          </a:blip>
          <a:srcRect b="0" l="-840" r="839" t="0"/>
          <a:stretch/>
        </p:blipFill>
        <p:spPr>
          <a:xfrm>
            <a:off x="683775" y="1647800"/>
            <a:ext cx="7423151" cy="471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Grouping Tasks into Jobs</a:t>
            </a:r>
            <a:endParaRPr/>
          </a:p>
        </p:txBody>
      </p:sp>
      <p:sp>
        <p:nvSpPr>
          <p:cNvPr id="87" name="Google Shape;87;p5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Job design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Managers decide how to divide tasks into specific jobs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Job simplification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Reducing the number of tasks that each worker performs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Job enlargement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Increasing the number of different tasks in a given job by changing the division of labor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Job enrichment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Increasing the degree of responsibility a worker has over a job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79387" y="1506412"/>
            <a:ext cx="8713800" cy="489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7.2 - The Job Characteristics Model</a:t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662" y="1981200"/>
            <a:ext cx="8599487" cy="40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Grouping Jobs into Functions</a:t>
            </a:r>
            <a:endParaRPr/>
          </a:p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Functional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An organizational structure composed of all the departments that an organization requires to produce its goods or services</a:t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Grouping Jobs into Functions</a:t>
            </a:r>
            <a:endParaRPr/>
          </a:p>
        </p:txBody>
      </p:sp>
      <p:sp>
        <p:nvSpPr>
          <p:cNvPr id="117" name="Google Shape;117;p8"/>
          <p:cNvSpPr txBox="1"/>
          <p:nvPr>
            <p:ph idx="1" type="body"/>
          </p:nvPr>
        </p:nvSpPr>
        <p:spPr>
          <a:xfrm>
            <a:off x="179387" y="1557337"/>
            <a:ext cx="4321175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0"/>
              <a:buNone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Advantages</a:t>
            </a:r>
            <a:endParaRPr/>
          </a:p>
          <a:p>
            <a:pPr indent="-214630" lvl="0" marL="228600" rtl="0" algn="l">
              <a:lnSpc>
                <a:spcPct val="9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Encourages learning from others doing similar jobs</a:t>
            </a:r>
            <a:endParaRPr/>
          </a:p>
          <a:p>
            <a:pPr indent="-214630" lvl="0" marL="228600" rtl="0" algn="l">
              <a:lnSpc>
                <a:spcPct val="9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Easy for managers to monitor and evaluate workers</a:t>
            </a:r>
            <a:endParaRPr/>
          </a:p>
          <a:p>
            <a:pPr indent="-214630" lvl="0" marL="228600" rtl="0" algn="l">
              <a:lnSpc>
                <a:spcPct val="9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Allows managers to scan, monitor and obtain information about the changing competitive environment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4500562" y="1557337"/>
            <a:ext cx="4321175" cy="48958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Trebuchet MS"/>
              <a:buNone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Disadvantages</a:t>
            </a:r>
            <a:endParaRPr/>
          </a:p>
          <a:p>
            <a:pPr indent="-198120" lvl="0" marL="228600" marR="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404040"/>
              </a:buClr>
              <a:buSzPts val="3120"/>
              <a:buFont typeface="Arial"/>
              <a:buChar char="•"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Difficult for managers in different functions to communicate and coordinate with one another </a:t>
            </a:r>
            <a:endParaRPr/>
          </a:p>
          <a:p>
            <a:pPr indent="-198120" lvl="0" marL="228600" marR="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404040"/>
              </a:buClr>
              <a:buSzPts val="3120"/>
              <a:buFont typeface="Arial"/>
              <a:buChar char="•"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Functional managers may become preoccupied in achieving their departmental goals that they lose sight of organizational goals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Divisional Structures</a:t>
            </a:r>
            <a:endParaRPr/>
          </a:p>
        </p:txBody>
      </p:sp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Organizational structure composed of separate business units within which are the functions that work together to produce a specific product for a specific customer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Each product line or business is handled by a self-contained division</a:t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 Structure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Advantages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Allows functional managers to specialize in one product area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Division managers become experts in their area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Removes need for direct supervision of the division by corporate managers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Divisional management improves the use of resources</a:t>
            </a: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Allows organization to be market and customer centred and aligned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7.4 - Product, Market,</a:t>
            </a:r>
            <a:b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and Geographic Structures</a:t>
            </a:r>
            <a:endParaRPr/>
          </a:p>
        </p:txBody>
      </p:sp>
      <p:sp>
        <p:nvSpPr>
          <p:cNvPr id="148" name="Google Shape;148;p11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152" name="Google Shape;1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1600200"/>
            <a:ext cx="4108450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Geographic Structure and its Types</a:t>
            </a:r>
            <a:endParaRPr/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Geographic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Each region of a country or area of the world is served by a self-contained division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Global geographic structure</a:t>
            </a:r>
            <a:endParaRPr/>
          </a:p>
          <a:p>
            <a:pPr indent="-214630" lvl="1" marL="547687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Managers locate different divisions in each of the world regions where the organization operates</a:t>
            </a:r>
            <a:endParaRPr/>
          </a:p>
          <a:p>
            <a:pPr indent="-214630" lvl="1" marL="547687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Occurs when managers are pursuing a multi-domestic strategy (customization of products and markets)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Geographic Structure and its Types</a:t>
            </a:r>
            <a:endParaRPr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Global product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Each product division, not the country or regional managers, takes responsibility for deciding where to manufacture its products and how to market them in foreign countries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7.5 - Global Geographic</a:t>
            </a:r>
            <a:b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and Global Product Structures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3225" y="1628775"/>
            <a:ext cx="5419725" cy="47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Market Structure</a:t>
            </a:r>
            <a:endParaRPr/>
          </a:p>
        </p:txBody>
      </p:sp>
      <p:sp>
        <p:nvSpPr>
          <p:cNvPr id="188" name="Google Shape;188;p15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Market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Each kind of customer is served by a self-contained division; also called customer structure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Matrix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An organizational structure that simultaneously groups people and resources by function and product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 Team Design Structure</a:t>
            </a:r>
            <a:endParaRPr/>
          </a:p>
        </p:txBody>
      </p:sp>
      <p:sp>
        <p:nvSpPr>
          <p:cNvPr id="198" name="Google Shape;198;p16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 team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Members are permanently assigned to a cross-functional team and report only to the product team manager or to one of his direct subordinates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Cross-functional team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Group of managers brought together from different departments to perform organizational tasks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</a:pPr>
            <a:r>
              <a:rPr b="0" i="0" lang="en-US" sz="3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7.6 - Matrix and Product </a:t>
            </a:r>
            <a:br>
              <a:rPr b="0" i="0" lang="en-US" sz="3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3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Team Structures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2525" y="1600200"/>
            <a:ext cx="3805237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Coordinating Functions and Divisions</a:t>
            </a:r>
            <a:endParaRPr/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Authority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Power to hold people accountable for their actions and to make decisions concerning the use of organizational resources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Hierarchy of authority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Organization’s chain of command, specifying the relative authority of each manager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Allocating Authority</a:t>
            </a:r>
            <a:endParaRPr/>
          </a:p>
        </p:txBody>
      </p:sp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Span of control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The number of subordinates that report directly to a manager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Line manager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Someone in the direct line or chain of command who has formal authority over people and resources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Staff manager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Someone responsible for managing a specialist function, such as finance or marketing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20"/>
              <a:buNone/>
            </a:pPr>
            <a:r>
              <a:rPr b="0" i="0" lang="en-US" sz="3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7.7 - The Hierarchy of Authority and Span of Control at McDonald’s Corporation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242" name="Google Shape;2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4375" y="1638300"/>
            <a:ext cx="4964112" cy="46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7.8 - Tall and Flat Organizations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312" y="1600200"/>
            <a:ext cx="3956050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Centralization and Decentralization </a:t>
            </a:r>
            <a:b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of Authority</a:t>
            </a:r>
            <a:endParaRPr/>
          </a:p>
        </p:txBody>
      </p:sp>
      <p:sp>
        <p:nvSpPr>
          <p:cNvPr id="258" name="Google Shape;258;p22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Top managers must seek the balance between centralization and decentralization of authority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Decentralizing authority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Giving lower-level managers and non-managerial employees the right to make important decisions about how to use organizational resources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Decentralized teams may begin to pursue their own goals at the expense of organizational goals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Integrating and Coordinating Mechanisms</a:t>
            </a:r>
            <a:endParaRPr/>
          </a:p>
        </p:txBody>
      </p:sp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Integrating mechanisms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Organizing tools that managers can use to increase communication and coordination among functions and divisions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7.9 - Types and Examples of Integrating Mechanisms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fig 7" id="283" name="Google Shape;2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916112"/>
            <a:ext cx="8458200" cy="4208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Strategic Alliances, B2B Network Structures, and IT</a:t>
            </a:r>
            <a:endParaRPr/>
          </a:p>
        </p:txBody>
      </p:sp>
      <p:sp>
        <p:nvSpPr>
          <p:cNvPr id="289" name="Google Shape;289;p25"/>
          <p:cNvSpPr txBox="1"/>
          <p:nvPr>
            <p:ph idx="1" type="body"/>
          </p:nvPr>
        </p:nvSpPr>
        <p:spPr>
          <a:xfrm>
            <a:off x="179387" y="1557337"/>
            <a:ext cx="87137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Strategic alliance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An agreement in which managers pool or share firm’s resources and know-how with a foreign company and the two firms share in rewards and risks of starting a new venture</a:t>
            </a:r>
            <a:endParaRPr/>
          </a:p>
          <a:p>
            <a:pPr indent="-231140" lvl="0" marL="22860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Network structure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Series of strategic alliances that an organization creates with suppliers, manufacturers, and distributors to produce and market a product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It allows firms to bring resources together in a boundary-less organization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820"/>
              </a:spcBef>
              <a:spcAft>
                <a:spcPts val="0"/>
              </a:spcAft>
              <a:buSzPts val="3380"/>
              <a:buFont typeface="Arial"/>
              <a:buChar char="•"/>
            </a:pPr>
            <a:r>
              <a:rPr b="0" i="0" lang="en-US" sz="26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E.g. Lands’ End Case: B2B Buy Committee &amp; Centre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144462" y="1773237"/>
            <a:ext cx="871220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Strategic Alliances, B2B Network Structures, and IT</a:t>
            </a:r>
            <a:endParaRPr/>
          </a:p>
        </p:txBody>
      </p:sp>
      <p:sp>
        <p:nvSpPr>
          <p:cNvPr id="299" name="Google Shape;299;p26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Outsource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To use outside suppliers and manufacturers to produce goods and services</a:t>
            </a:r>
            <a:endParaRPr/>
          </a:p>
          <a:p>
            <a:pPr indent="-231140" lvl="0" marL="22860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Boundaryless organization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Members are linked by computers, faxes, computer-aided design systems, and video-conferencing and who, rarely, if ever, see one another face-to-face</a:t>
            </a:r>
            <a:endParaRPr/>
          </a:p>
          <a:p>
            <a:pPr indent="-231140" lvl="0" marL="22860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Knowledge management system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Company-specific virtual information system that allows workers to share their knowledge and expertise and find others to help solve problems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/>
          <p:nvPr>
            <p:ph idx="1" type="body"/>
          </p:nvPr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40"/>
              <a:buNone/>
            </a:pPr>
            <a:r>
              <a:rPr b="0" i="0" lang="en-US" sz="3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Strategic Alliances, B2B Network Structures, and IT</a:t>
            </a:r>
            <a:endParaRPr/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14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1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to Business (B2B ) network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Group of organizations that join together and use IT to link themselves to potential global suppliers to increase efficiency and effectiveness</a:t>
            </a:r>
            <a:endParaRPr/>
          </a:p>
          <a:p>
            <a:pPr indent="-231140" lvl="0" marL="2286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3640"/>
              <a:buFont typeface="Arial"/>
              <a:buChar char="•"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Lands’ End Case: B2B Buy Committee, Buy Centre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2" name="Google Shape;312;p27"/>
          <p:cNvSpPr txBox="1"/>
          <p:nvPr/>
        </p:nvSpPr>
        <p:spPr>
          <a:xfrm>
            <a:off x="179387" y="333375"/>
            <a:ext cx="8713787" cy="107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179387" y="1557337"/>
            <a:ext cx="8713787" cy="489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Jones template_01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ones template_01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Jones template_01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Jones template_01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2012-01-16T07:28:42Z</dcterms:created>
  <dc:creator>Jagruti Gadekar</dc:creator>
</cp:coreProperties>
</file>